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imo Bold" panose="020B0604020202020204" charset="0"/>
      <p:regular r:id="rId10"/>
    </p:embeddedFont>
    <p:embeddedFont>
      <p:font typeface="Calibri (MS)" panose="020B0604020202020204" charset="0"/>
      <p:regular r:id="rId11"/>
    </p:embeddedFont>
    <p:embeddedFont>
      <p:font typeface="Merriweather" panose="020B0604020202020204" charset="0"/>
      <p:regular r:id="rId12"/>
    </p:embeddedFont>
    <p:embeddedFont>
      <p:font typeface="Open Sans" panose="020B0606030504020204" pitchFamily="34" charset="0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an Saha" userId="7128517cfb3c0213" providerId="LiveId" clId="{5F09D3F6-AD25-4E36-A1FC-8C64E3FAE1ED}"/>
    <pc:docChg chg="modSld">
      <pc:chgData name="Rohan Saha" userId="7128517cfb3c0213" providerId="LiveId" clId="{5F09D3F6-AD25-4E36-A1FC-8C64E3FAE1ED}" dt="2025-04-21T04:46:17.765" v="5" actId="14100"/>
      <pc:docMkLst>
        <pc:docMk/>
      </pc:docMkLst>
      <pc:sldChg chg="modSp mod">
        <pc:chgData name="Rohan Saha" userId="7128517cfb3c0213" providerId="LiveId" clId="{5F09D3F6-AD25-4E36-A1FC-8C64E3FAE1ED}" dt="2025-04-21T04:42:38.801" v="0" actId="1076"/>
        <pc:sldMkLst>
          <pc:docMk/>
          <pc:sldMk cId="0" sldId="256"/>
        </pc:sldMkLst>
        <pc:grpChg chg="mod">
          <ac:chgData name="Rohan Saha" userId="7128517cfb3c0213" providerId="LiveId" clId="{5F09D3F6-AD25-4E36-A1FC-8C64E3FAE1ED}" dt="2025-04-21T04:42:38.801" v="0" actId="1076"/>
          <ac:grpSpMkLst>
            <pc:docMk/>
            <pc:sldMk cId="0" sldId="256"/>
            <ac:grpSpMk id="4" creationId="{00000000-0000-0000-0000-000000000000}"/>
          </ac:grpSpMkLst>
        </pc:grpChg>
      </pc:sldChg>
      <pc:sldChg chg="modSp mod">
        <pc:chgData name="Rohan Saha" userId="7128517cfb3c0213" providerId="LiveId" clId="{5F09D3F6-AD25-4E36-A1FC-8C64E3FAE1ED}" dt="2025-04-21T04:46:17.765" v="5" actId="14100"/>
        <pc:sldMkLst>
          <pc:docMk/>
          <pc:sldMk cId="0" sldId="262"/>
        </pc:sldMkLst>
        <pc:spChg chg="mod">
          <ac:chgData name="Rohan Saha" userId="7128517cfb3c0213" providerId="LiveId" clId="{5F09D3F6-AD25-4E36-A1FC-8C64E3FAE1ED}" dt="2025-04-21T04:45:40.733" v="1" actId="20577"/>
          <ac:spMkLst>
            <pc:docMk/>
            <pc:sldMk cId="0" sldId="262"/>
            <ac:spMk id="34" creationId="{00000000-0000-0000-0000-000000000000}"/>
          </ac:spMkLst>
        </pc:spChg>
        <pc:grpChg chg="mod">
          <ac:chgData name="Rohan Saha" userId="7128517cfb3c0213" providerId="LiveId" clId="{5F09D3F6-AD25-4E36-A1FC-8C64E3FAE1ED}" dt="2025-04-21T04:46:17.765" v="5" actId="14100"/>
          <ac:grpSpMkLst>
            <pc:docMk/>
            <pc:sldMk cId="0" sldId="262"/>
            <ac:grpSpMk id="29" creationId="{00000000-0000-0000-0000-000000000000}"/>
          </ac:grpSpMkLst>
        </pc:grpChg>
        <pc:grpChg chg="mod">
          <ac:chgData name="Rohan Saha" userId="7128517cfb3c0213" providerId="LiveId" clId="{5F09D3F6-AD25-4E36-A1FC-8C64E3FAE1ED}" dt="2025-04-21T04:45:53.174" v="2" actId="14100"/>
          <ac:grpSpMkLst>
            <pc:docMk/>
            <pc:sldMk cId="0" sldId="262"/>
            <ac:grpSpMk id="32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50237" y="1709142"/>
            <a:ext cx="9445526" cy="3586758"/>
            <a:chOff x="0" y="0"/>
            <a:chExt cx="12594035" cy="478234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594034" cy="4782343"/>
            </a:xfrm>
            <a:custGeom>
              <a:avLst/>
              <a:gdLst/>
              <a:ahLst/>
              <a:cxnLst/>
              <a:rect l="l" t="t" r="r" b="b"/>
              <a:pathLst>
                <a:path w="12594034" h="4782343">
                  <a:moveTo>
                    <a:pt x="0" y="0"/>
                  </a:moveTo>
                  <a:lnTo>
                    <a:pt x="12594034" y="0"/>
                  </a:lnTo>
                  <a:lnTo>
                    <a:pt x="12594034" y="4782343"/>
                  </a:lnTo>
                  <a:lnTo>
                    <a:pt x="0" y="47823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2594035" cy="483949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936"/>
                </a:lnSpc>
              </a:pPr>
              <a:r>
                <a:rPr lang="en-US" sz="5562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Chronic Kidney Disease Prediction Using Machine Learning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7845475" y="8055174"/>
            <a:ext cx="463201" cy="463201"/>
          </a:xfrm>
          <a:custGeom>
            <a:avLst/>
            <a:gdLst/>
            <a:ahLst/>
            <a:cxnLst/>
            <a:rect l="l" t="t" r="r" b="b"/>
            <a:pathLst>
              <a:path w="463201" h="463201">
                <a:moveTo>
                  <a:pt x="0" y="0"/>
                </a:moveTo>
                <a:lnTo>
                  <a:pt x="463201" y="0"/>
                </a:lnTo>
                <a:lnTo>
                  <a:pt x="463201" y="463201"/>
                </a:lnTo>
                <a:lnTo>
                  <a:pt x="0" y="4632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8077051" y="4989374"/>
            <a:ext cx="8534549" cy="1754326"/>
            <a:chOff x="0" y="0"/>
            <a:chExt cx="11379399" cy="233910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379398" cy="2339101"/>
            </a:xfrm>
            <a:custGeom>
              <a:avLst/>
              <a:gdLst/>
              <a:ahLst/>
              <a:cxnLst/>
              <a:rect l="l" t="t" r="r" b="b"/>
              <a:pathLst>
                <a:path w="11379398" h="2339101">
                  <a:moveTo>
                    <a:pt x="0" y="0"/>
                  </a:moveTo>
                  <a:lnTo>
                    <a:pt x="11379398" y="0"/>
                  </a:lnTo>
                  <a:lnTo>
                    <a:pt x="11379398" y="2339101"/>
                  </a:lnTo>
                  <a:lnTo>
                    <a:pt x="0" y="233910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1379399" cy="240577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20"/>
                </a:lnSpc>
              </a:pPr>
              <a:r>
                <a:rPr lang="en-US" sz="36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BY:</a:t>
              </a:r>
            </a:p>
            <a:p>
              <a:pPr algn="l">
                <a:lnSpc>
                  <a:spcPts val="4320"/>
                </a:lnSpc>
              </a:pPr>
              <a:r>
                <a:rPr lang="en-US" sz="36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Prayansh Sukhija	  [E23CSEU0548]</a:t>
              </a:r>
            </a:p>
            <a:p>
              <a:pPr algn="l">
                <a:lnSpc>
                  <a:spcPts val="4320"/>
                </a:lnSpc>
              </a:pPr>
              <a:r>
                <a:rPr lang="en-US" sz="36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Rohan Kumar	  [E23CSEU2437]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072289" y="7521403"/>
            <a:ext cx="8302924" cy="769441"/>
            <a:chOff x="0" y="0"/>
            <a:chExt cx="11070565" cy="102592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70565" cy="1025921"/>
            </a:xfrm>
            <a:custGeom>
              <a:avLst/>
              <a:gdLst/>
              <a:ahLst/>
              <a:cxnLst/>
              <a:rect l="l" t="t" r="r" b="b"/>
              <a:pathLst>
                <a:path w="11070565" h="1025921">
                  <a:moveTo>
                    <a:pt x="0" y="0"/>
                  </a:moveTo>
                  <a:lnTo>
                    <a:pt x="11070565" y="0"/>
                  </a:lnTo>
                  <a:lnTo>
                    <a:pt x="11070565" y="1025921"/>
                  </a:lnTo>
                  <a:lnTo>
                    <a:pt x="0" y="10259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11070565" cy="11116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280"/>
                </a:lnSpc>
              </a:pPr>
              <a:r>
                <a:rPr lang="en-GB" sz="4400" dirty="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lang="en-US" sz="4400" dirty="0" err="1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ennett</a:t>
              </a:r>
              <a:r>
                <a:rPr lang="en-US" sz="4400" dirty="0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 University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381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3181796"/>
            <a:chOff x="0" y="0"/>
            <a:chExt cx="24384000" cy="4242395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24384000" cy="4242435"/>
            </a:xfrm>
            <a:custGeom>
              <a:avLst/>
              <a:gdLst/>
              <a:ahLst/>
              <a:cxnLst/>
              <a:rect l="l" t="t" r="r" b="b"/>
              <a:pathLst>
                <a:path w="24384000" h="4242435">
                  <a:moveTo>
                    <a:pt x="0" y="0"/>
                  </a:moveTo>
                  <a:lnTo>
                    <a:pt x="24384000" y="0"/>
                  </a:lnTo>
                  <a:lnTo>
                    <a:pt x="24384000" y="4242435"/>
                  </a:lnTo>
                  <a:lnTo>
                    <a:pt x="0" y="42424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" r="-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90885" y="3846462"/>
            <a:ext cx="16506230" cy="1626691"/>
            <a:chOff x="0" y="0"/>
            <a:chExt cx="22008307" cy="21689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008306" cy="2168921"/>
            </a:xfrm>
            <a:custGeom>
              <a:avLst/>
              <a:gdLst/>
              <a:ahLst/>
              <a:cxnLst/>
              <a:rect l="l" t="t" r="r" b="b"/>
              <a:pathLst>
                <a:path w="22008306" h="2168921">
                  <a:moveTo>
                    <a:pt x="0" y="0"/>
                  </a:moveTo>
                  <a:lnTo>
                    <a:pt x="22008306" y="0"/>
                  </a:lnTo>
                  <a:lnTo>
                    <a:pt x="22008306" y="2168921"/>
                  </a:lnTo>
                  <a:lnTo>
                    <a:pt x="0" y="21689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2008307" cy="221654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249"/>
                </a:lnSpc>
              </a:pPr>
              <a:r>
                <a:rPr lang="en-US" sz="4999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Introduction: Understanding Chronic Kidney Disease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0885" y="5797749"/>
            <a:ext cx="16506230" cy="464344"/>
            <a:chOff x="0" y="0"/>
            <a:chExt cx="22008307" cy="6191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2008306" cy="619125"/>
            </a:xfrm>
            <a:custGeom>
              <a:avLst/>
              <a:gdLst/>
              <a:ahLst/>
              <a:cxnLst/>
              <a:rect l="l" t="t" r="r" b="b"/>
              <a:pathLst>
                <a:path w="22008306" h="619125">
                  <a:moveTo>
                    <a:pt x="0" y="0"/>
                  </a:moveTo>
                  <a:lnTo>
                    <a:pt x="22008306" y="0"/>
                  </a:lnTo>
                  <a:lnTo>
                    <a:pt x="22008306" y="619125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22008307" cy="6953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6"/>
                </a:lnSpc>
              </a:pPr>
              <a:r>
                <a:rPr lang="en-US" sz="2000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Chronic Kidney Disease (CKD) involves progressive kidney function loss.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0885" y="6491287"/>
            <a:ext cx="16506230" cy="464344"/>
            <a:chOff x="0" y="0"/>
            <a:chExt cx="22008307" cy="6191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2008306" cy="619125"/>
            </a:xfrm>
            <a:custGeom>
              <a:avLst/>
              <a:gdLst/>
              <a:ahLst/>
              <a:cxnLst/>
              <a:rect l="l" t="t" r="r" b="b"/>
              <a:pathLst>
                <a:path w="22008306" h="619125">
                  <a:moveTo>
                    <a:pt x="0" y="0"/>
                  </a:moveTo>
                  <a:lnTo>
                    <a:pt x="22008306" y="0"/>
                  </a:lnTo>
                  <a:lnTo>
                    <a:pt x="22008306" y="619125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22008307" cy="6953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6"/>
                </a:lnSpc>
              </a:pPr>
              <a:r>
                <a:rPr lang="en-US" sz="2000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Affects ~143 million Indian adults (15% of adult population, if similar to US — CDC 2023)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90885" y="7184826"/>
            <a:ext cx="16506230" cy="464344"/>
            <a:chOff x="0" y="0"/>
            <a:chExt cx="22008307" cy="61912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008306" cy="619125"/>
            </a:xfrm>
            <a:custGeom>
              <a:avLst/>
              <a:gdLst/>
              <a:ahLst/>
              <a:cxnLst/>
              <a:rect l="l" t="t" r="r" b="b"/>
              <a:pathLst>
                <a:path w="22008306" h="619125">
                  <a:moveTo>
                    <a:pt x="0" y="0"/>
                  </a:moveTo>
                  <a:lnTo>
                    <a:pt x="22008306" y="0"/>
                  </a:lnTo>
                  <a:lnTo>
                    <a:pt x="22008306" y="619125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22008307" cy="6953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6"/>
                </a:lnSpc>
              </a:pPr>
              <a:r>
                <a:rPr lang="en-US" sz="2000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Early prediction enables timely intervention, slowing disease progression.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886122" y="8217099"/>
            <a:ext cx="582168" cy="582263"/>
          </a:xfrm>
          <a:custGeom>
            <a:avLst/>
            <a:gdLst/>
            <a:ahLst/>
            <a:cxnLst/>
            <a:rect l="l" t="t" r="r" b="b"/>
            <a:pathLst>
              <a:path w="582168" h="582263">
                <a:moveTo>
                  <a:pt x="0" y="0"/>
                </a:moveTo>
                <a:lnTo>
                  <a:pt x="582168" y="0"/>
                </a:lnTo>
                <a:lnTo>
                  <a:pt x="582168" y="582263"/>
                </a:lnTo>
                <a:lnTo>
                  <a:pt x="0" y="5822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1718072" y="8200430"/>
            <a:ext cx="3181796" cy="419100"/>
            <a:chOff x="0" y="0"/>
            <a:chExt cx="4242395" cy="558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242395" cy="558800"/>
            </a:xfrm>
            <a:custGeom>
              <a:avLst/>
              <a:gdLst/>
              <a:ahLst/>
              <a:cxnLst/>
              <a:rect l="l" t="t" r="r" b="b"/>
              <a:pathLst>
                <a:path w="4242395" h="558800">
                  <a:moveTo>
                    <a:pt x="0" y="0"/>
                  </a:moveTo>
                  <a:lnTo>
                    <a:pt x="4242395" y="0"/>
                  </a:lnTo>
                  <a:lnTo>
                    <a:pt x="4242395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4242395" cy="5873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Early Detection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718072" y="8715078"/>
            <a:ext cx="4505176" cy="871538"/>
            <a:chOff x="0" y="0"/>
            <a:chExt cx="6006901" cy="116205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006901" cy="1162051"/>
            </a:xfrm>
            <a:custGeom>
              <a:avLst/>
              <a:gdLst/>
              <a:ahLst/>
              <a:cxnLst/>
              <a:rect l="l" t="t" r="r" b="b"/>
              <a:pathLst>
                <a:path w="6006901" h="1162051">
                  <a:moveTo>
                    <a:pt x="0" y="0"/>
                  </a:moveTo>
                  <a:lnTo>
                    <a:pt x="6006901" y="0"/>
                  </a:lnTo>
                  <a:lnTo>
                    <a:pt x="6006901" y="1162051"/>
                  </a:lnTo>
                  <a:lnTo>
                    <a:pt x="0" y="11620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6006901" cy="123825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6"/>
                </a:lnSpc>
              </a:pPr>
              <a:r>
                <a:rPr lang="en-US" sz="2000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Allows timely intervention and slows disease progression.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6472981" y="8217099"/>
            <a:ext cx="582168" cy="582263"/>
          </a:xfrm>
          <a:custGeom>
            <a:avLst/>
            <a:gdLst/>
            <a:ahLst/>
            <a:cxnLst/>
            <a:rect l="l" t="t" r="r" b="b"/>
            <a:pathLst>
              <a:path w="582168" h="582263">
                <a:moveTo>
                  <a:pt x="0" y="0"/>
                </a:moveTo>
                <a:lnTo>
                  <a:pt x="582168" y="0"/>
                </a:lnTo>
                <a:lnTo>
                  <a:pt x="582168" y="582263"/>
                </a:lnTo>
                <a:lnTo>
                  <a:pt x="0" y="5822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8" name="Group 28"/>
          <p:cNvGrpSpPr/>
          <p:nvPr/>
        </p:nvGrpSpPr>
        <p:grpSpPr>
          <a:xfrm>
            <a:off x="7304931" y="8200430"/>
            <a:ext cx="3181796" cy="419100"/>
            <a:chOff x="0" y="0"/>
            <a:chExt cx="4242395" cy="558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242395" cy="558800"/>
            </a:xfrm>
            <a:custGeom>
              <a:avLst/>
              <a:gdLst/>
              <a:ahLst/>
              <a:cxnLst/>
              <a:rect l="l" t="t" r="r" b="b"/>
              <a:pathLst>
                <a:path w="4242395" h="558800">
                  <a:moveTo>
                    <a:pt x="0" y="0"/>
                  </a:moveTo>
                  <a:lnTo>
                    <a:pt x="4242395" y="0"/>
                  </a:lnTo>
                  <a:lnTo>
                    <a:pt x="4242395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4242395" cy="5873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24"/>
                </a:lnSpc>
              </a:pPr>
              <a:r>
                <a:rPr lang="en-US" sz="2499" b="1" dirty="0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Cost Reduction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304931" y="8679297"/>
            <a:ext cx="4505176" cy="1417203"/>
            <a:chOff x="0" y="0"/>
            <a:chExt cx="6006901" cy="188960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006901" cy="1889604"/>
            </a:xfrm>
            <a:custGeom>
              <a:avLst/>
              <a:gdLst/>
              <a:ahLst/>
              <a:cxnLst/>
              <a:rect l="l" t="t" r="r" b="b"/>
              <a:pathLst>
                <a:path w="6006901" h="1889604">
                  <a:moveTo>
                    <a:pt x="0" y="0"/>
                  </a:moveTo>
                  <a:lnTo>
                    <a:pt x="6006901" y="0"/>
                  </a:lnTo>
                  <a:lnTo>
                    <a:pt x="6006901" y="1889604"/>
                  </a:lnTo>
                  <a:lnTo>
                    <a:pt x="0" y="18896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76200"/>
              <a:ext cx="6006901" cy="196580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6"/>
                </a:lnSpc>
              </a:pPr>
              <a:r>
                <a:rPr lang="en-US" sz="2000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Reduces healthcare costs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2059841" y="8217099"/>
            <a:ext cx="582168" cy="582263"/>
          </a:xfrm>
          <a:custGeom>
            <a:avLst/>
            <a:gdLst/>
            <a:ahLst/>
            <a:cxnLst/>
            <a:rect l="l" t="t" r="r" b="b"/>
            <a:pathLst>
              <a:path w="582168" h="582263">
                <a:moveTo>
                  <a:pt x="0" y="0"/>
                </a:moveTo>
                <a:lnTo>
                  <a:pt x="582168" y="0"/>
                </a:lnTo>
                <a:lnTo>
                  <a:pt x="582168" y="582263"/>
                </a:lnTo>
                <a:lnTo>
                  <a:pt x="0" y="5822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2891790" y="8200430"/>
            <a:ext cx="3194894" cy="419100"/>
            <a:chOff x="0" y="0"/>
            <a:chExt cx="4259859" cy="558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259859" cy="558800"/>
            </a:xfrm>
            <a:custGeom>
              <a:avLst/>
              <a:gdLst/>
              <a:ahLst/>
              <a:cxnLst/>
              <a:rect l="l" t="t" r="r" b="b"/>
              <a:pathLst>
                <a:path w="4259859" h="558800">
                  <a:moveTo>
                    <a:pt x="0" y="0"/>
                  </a:moveTo>
                  <a:lnTo>
                    <a:pt x="4259859" y="0"/>
                  </a:lnTo>
                  <a:lnTo>
                    <a:pt x="4259859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4259859" cy="5873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24"/>
                </a:lnSpc>
              </a:pPr>
              <a:r>
                <a:rPr lang="en-US" sz="2499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Accurate Model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891790" y="8715078"/>
            <a:ext cx="4505176" cy="871538"/>
            <a:chOff x="0" y="0"/>
            <a:chExt cx="6006901" cy="116205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006901" cy="1162051"/>
            </a:xfrm>
            <a:custGeom>
              <a:avLst/>
              <a:gdLst/>
              <a:ahLst/>
              <a:cxnLst/>
              <a:rect l="l" t="t" r="r" b="b"/>
              <a:pathLst>
                <a:path w="6006901" h="1162051">
                  <a:moveTo>
                    <a:pt x="0" y="0"/>
                  </a:moveTo>
                  <a:lnTo>
                    <a:pt x="6006901" y="0"/>
                  </a:lnTo>
                  <a:lnTo>
                    <a:pt x="6006901" y="1162051"/>
                  </a:lnTo>
                  <a:lnTo>
                    <a:pt x="0" y="11620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76200"/>
              <a:ext cx="6006901" cy="1238251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6"/>
                </a:lnSpc>
              </a:pPr>
              <a:r>
                <a:rPr lang="en-US" sz="2000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Goal: To develop an accurate ML model for early CKD prediction.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9748" y="2544664"/>
            <a:ext cx="16128504" cy="1928218"/>
            <a:chOff x="0" y="0"/>
            <a:chExt cx="21504672" cy="25709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504672" cy="2570957"/>
            </a:xfrm>
            <a:custGeom>
              <a:avLst/>
              <a:gdLst/>
              <a:ahLst/>
              <a:cxnLst/>
              <a:rect l="l" t="t" r="r" b="b"/>
              <a:pathLst>
                <a:path w="21504672" h="2570957">
                  <a:moveTo>
                    <a:pt x="0" y="0"/>
                  </a:moveTo>
                  <a:lnTo>
                    <a:pt x="21504672" y="0"/>
                  </a:lnTo>
                  <a:lnTo>
                    <a:pt x="21504672" y="2570957"/>
                  </a:lnTo>
                  <a:lnTo>
                    <a:pt x="0" y="25709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21504672" cy="259953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563"/>
                </a:lnSpc>
              </a:pPr>
              <a:r>
                <a:rPr lang="en-US" sz="6063">
                  <a:solidFill>
                    <a:srgbClr val="F5F0F0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Project Overview: AI-Driven Prediction Model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9748" y="5213151"/>
            <a:ext cx="7687866" cy="987028"/>
            <a:chOff x="0" y="0"/>
            <a:chExt cx="10250488" cy="13160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50488" cy="1316037"/>
            </a:xfrm>
            <a:custGeom>
              <a:avLst/>
              <a:gdLst/>
              <a:ahLst/>
              <a:cxnLst/>
              <a:rect l="l" t="t" r="r" b="b"/>
              <a:pathLst>
                <a:path w="10250488" h="1316037">
                  <a:moveTo>
                    <a:pt x="0" y="0"/>
                  </a:moveTo>
                  <a:lnTo>
                    <a:pt x="10250488" y="0"/>
                  </a:lnTo>
                  <a:lnTo>
                    <a:pt x="10250488" y="1316037"/>
                  </a:lnTo>
                  <a:lnTo>
                    <a:pt x="0" y="1316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10250488" cy="14112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75"/>
                </a:lnSpc>
              </a:pPr>
              <a:r>
                <a:rPr lang="en-US" sz="2375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Utilized dataset from Kaggle for CKD Prediction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79748" y="6477744"/>
            <a:ext cx="7687866" cy="987028"/>
            <a:chOff x="0" y="0"/>
            <a:chExt cx="10250488" cy="13160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50488" cy="1316037"/>
            </a:xfrm>
            <a:custGeom>
              <a:avLst/>
              <a:gdLst/>
              <a:ahLst/>
              <a:cxnLst/>
              <a:rect l="l" t="t" r="r" b="b"/>
              <a:pathLst>
                <a:path w="10250488" h="1316037">
                  <a:moveTo>
                    <a:pt x="0" y="0"/>
                  </a:moveTo>
                  <a:lnTo>
                    <a:pt x="10250488" y="0"/>
                  </a:lnTo>
                  <a:lnTo>
                    <a:pt x="10250488" y="1316037"/>
                  </a:lnTo>
                  <a:lnTo>
                    <a:pt x="0" y="1316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0250488" cy="14112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75"/>
                </a:lnSpc>
              </a:pPr>
              <a:r>
                <a:rPr lang="en-US" sz="2375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Input variables included vital signs, lab values, and medical history.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29912" y="5213151"/>
            <a:ext cx="7687866" cy="987028"/>
            <a:chOff x="0" y="0"/>
            <a:chExt cx="10250488" cy="131603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250488" cy="1316037"/>
            </a:xfrm>
            <a:custGeom>
              <a:avLst/>
              <a:gdLst/>
              <a:ahLst/>
              <a:cxnLst/>
              <a:rect l="l" t="t" r="r" b="b"/>
              <a:pathLst>
                <a:path w="10250488" h="1316037">
                  <a:moveTo>
                    <a:pt x="0" y="0"/>
                  </a:moveTo>
                  <a:lnTo>
                    <a:pt x="10250488" y="0"/>
                  </a:lnTo>
                  <a:lnTo>
                    <a:pt x="10250488" y="1316037"/>
                  </a:lnTo>
                  <a:lnTo>
                    <a:pt x="0" y="1316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0"/>
              <a:ext cx="10250488" cy="14112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75"/>
                </a:lnSpc>
              </a:pPr>
              <a:r>
                <a:rPr lang="en-US" sz="2375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Model architecture: XGBoost with Random Forest Classifier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29912" y="6477744"/>
            <a:ext cx="7687866" cy="987028"/>
            <a:chOff x="0" y="0"/>
            <a:chExt cx="10250488" cy="131603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50488" cy="1316037"/>
            </a:xfrm>
            <a:custGeom>
              <a:avLst/>
              <a:gdLst/>
              <a:ahLst/>
              <a:cxnLst/>
              <a:rect l="l" t="t" r="r" b="b"/>
              <a:pathLst>
                <a:path w="10250488" h="1316037">
                  <a:moveTo>
                    <a:pt x="0" y="0"/>
                  </a:moveTo>
                  <a:lnTo>
                    <a:pt x="10250488" y="0"/>
                  </a:lnTo>
                  <a:lnTo>
                    <a:pt x="10250488" y="1316037"/>
                  </a:lnTo>
                  <a:lnTo>
                    <a:pt x="0" y="13160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10250488" cy="141128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75"/>
                </a:lnSpc>
              </a:pPr>
              <a:r>
                <a:rPr lang="en-US" sz="2375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Validation used rigorous cross-validation ensuring robustness.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6047" y="1143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66031" y="1040681"/>
            <a:ext cx="16546414" cy="1583829"/>
            <a:chOff x="0" y="0"/>
            <a:chExt cx="22061885" cy="21117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061886" cy="2111772"/>
            </a:xfrm>
            <a:custGeom>
              <a:avLst/>
              <a:gdLst/>
              <a:ahLst/>
              <a:cxnLst/>
              <a:rect l="l" t="t" r="r" b="b"/>
              <a:pathLst>
                <a:path w="22061886" h="2111772">
                  <a:moveTo>
                    <a:pt x="0" y="0"/>
                  </a:moveTo>
                  <a:lnTo>
                    <a:pt x="22061886" y="0"/>
                  </a:lnTo>
                  <a:lnTo>
                    <a:pt x="22061886" y="2111772"/>
                  </a:lnTo>
                  <a:lnTo>
                    <a:pt x="0" y="21117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85725"/>
              <a:ext cx="22061885" cy="20260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062"/>
                </a:lnSpc>
              </a:pPr>
              <a:r>
                <a:rPr lang="en-US" sz="6000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Dataset Overview: Features and Preprocessing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95218" y="3530107"/>
            <a:ext cx="16546414" cy="462409"/>
            <a:chOff x="0" y="0"/>
            <a:chExt cx="22061886" cy="6165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61886" cy="616545"/>
            </a:xfrm>
            <a:custGeom>
              <a:avLst/>
              <a:gdLst/>
              <a:ahLst/>
              <a:cxnLst/>
              <a:rect l="l" t="t" r="r" b="b"/>
              <a:pathLst>
                <a:path w="22061886" h="616545">
                  <a:moveTo>
                    <a:pt x="0" y="0"/>
                  </a:moveTo>
                  <a:lnTo>
                    <a:pt x="22061886" y="0"/>
                  </a:lnTo>
                  <a:lnTo>
                    <a:pt x="22061886" y="616545"/>
                  </a:lnTo>
                  <a:lnTo>
                    <a:pt x="0" y="616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4300"/>
              <a:ext cx="22061886" cy="5022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25"/>
                </a:lnSpc>
              </a:pPr>
              <a:r>
                <a:rPr lang="en-US" sz="3600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The dataset originates from Kaggle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1447" y="4855517"/>
            <a:ext cx="16546414" cy="462409"/>
            <a:chOff x="0" y="0"/>
            <a:chExt cx="22061885" cy="61654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061886" cy="616545"/>
            </a:xfrm>
            <a:custGeom>
              <a:avLst/>
              <a:gdLst/>
              <a:ahLst/>
              <a:cxnLst/>
              <a:rect l="l" t="t" r="r" b="b"/>
              <a:pathLst>
                <a:path w="22061886" h="616545">
                  <a:moveTo>
                    <a:pt x="0" y="0"/>
                  </a:moveTo>
                  <a:lnTo>
                    <a:pt x="22061886" y="0"/>
                  </a:lnTo>
                  <a:lnTo>
                    <a:pt x="22061886" y="616545"/>
                  </a:lnTo>
                  <a:lnTo>
                    <a:pt x="0" y="616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4300"/>
              <a:ext cx="22061885" cy="5022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25"/>
                </a:lnSpc>
              </a:pPr>
              <a:r>
                <a:rPr lang="en-US" sz="3600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It includes 400 instances and 24 features plus class labels.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51447" y="6214403"/>
            <a:ext cx="16546414" cy="462409"/>
            <a:chOff x="0" y="0"/>
            <a:chExt cx="22061886" cy="61654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061886" cy="616545"/>
            </a:xfrm>
            <a:custGeom>
              <a:avLst/>
              <a:gdLst/>
              <a:ahLst/>
              <a:cxnLst/>
              <a:rect l="l" t="t" r="r" b="b"/>
              <a:pathLst>
                <a:path w="22061886" h="616545">
                  <a:moveTo>
                    <a:pt x="0" y="0"/>
                  </a:moveTo>
                  <a:lnTo>
                    <a:pt x="22061886" y="0"/>
                  </a:lnTo>
                  <a:lnTo>
                    <a:pt x="22061886" y="616545"/>
                  </a:lnTo>
                  <a:lnTo>
                    <a:pt x="0" y="616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14300"/>
              <a:ext cx="22061886" cy="50224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25"/>
                </a:lnSpc>
              </a:pPr>
              <a:r>
                <a:rPr lang="en-US" sz="3600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Key features include age, blood pressure, and serum creatinine.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922104" y="7746979"/>
            <a:ext cx="5359145" cy="1860232"/>
          </a:xfrm>
          <a:custGeom>
            <a:avLst/>
            <a:gdLst/>
            <a:ahLst/>
            <a:cxnLst/>
            <a:rect l="l" t="t" r="r" b="b"/>
            <a:pathLst>
              <a:path w="5359145" h="1860232">
                <a:moveTo>
                  <a:pt x="0" y="0"/>
                </a:moveTo>
                <a:lnTo>
                  <a:pt x="5359145" y="0"/>
                </a:lnTo>
                <a:lnTo>
                  <a:pt x="5359145" y="1860232"/>
                </a:lnTo>
                <a:lnTo>
                  <a:pt x="0" y="1860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1129010" y="8007548"/>
            <a:ext cx="3110210" cy="395883"/>
            <a:chOff x="0" y="0"/>
            <a:chExt cx="4146947" cy="5278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146947" cy="527844"/>
            </a:xfrm>
            <a:custGeom>
              <a:avLst/>
              <a:gdLst/>
              <a:ahLst/>
              <a:cxnLst/>
              <a:rect l="l" t="t" r="r" b="b"/>
              <a:pathLst>
                <a:path w="4146947" h="527844">
                  <a:moveTo>
                    <a:pt x="0" y="0"/>
                  </a:moveTo>
                  <a:lnTo>
                    <a:pt x="4146947" y="0"/>
                  </a:lnTo>
                  <a:lnTo>
                    <a:pt x="4146947" y="527844"/>
                  </a:lnTo>
                  <a:lnTo>
                    <a:pt x="0" y="5278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4146947" cy="5373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99"/>
                </a:lnSpc>
              </a:pPr>
              <a:r>
                <a:rPr lang="en-US" sz="2436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Missing Values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29010" y="8488412"/>
            <a:ext cx="4833194" cy="462409"/>
            <a:chOff x="0" y="0"/>
            <a:chExt cx="6444259" cy="61654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444259" cy="616545"/>
            </a:xfrm>
            <a:custGeom>
              <a:avLst/>
              <a:gdLst/>
              <a:ahLst/>
              <a:cxnLst/>
              <a:rect l="l" t="t" r="r" b="b"/>
              <a:pathLst>
                <a:path w="6444259" h="616545">
                  <a:moveTo>
                    <a:pt x="0" y="0"/>
                  </a:moveTo>
                  <a:lnTo>
                    <a:pt x="6444259" y="0"/>
                  </a:lnTo>
                  <a:lnTo>
                    <a:pt x="6444259" y="616545"/>
                  </a:lnTo>
                  <a:lnTo>
                    <a:pt x="0" y="6165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85725"/>
              <a:ext cx="6444259" cy="70227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25"/>
                </a:lnSpc>
              </a:pPr>
              <a:r>
                <a:rPr lang="en-US" sz="1937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Handled via imputation or removal.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6464350" y="7751712"/>
            <a:ext cx="5359145" cy="1860232"/>
          </a:xfrm>
          <a:custGeom>
            <a:avLst/>
            <a:gdLst/>
            <a:ahLst/>
            <a:cxnLst/>
            <a:rect l="l" t="t" r="r" b="b"/>
            <a:pathLst>
              <a:path w="5359145" h="1860232">
                <a:moveTo>
                  <a:pt x="0" y="0"/>
                </a:moveTo>
                <a:lnTo>
                  <a:pt x="5359145" y="0"/>
                </a:lnTo>
                <a:lnTo>
                  <a:pt x="5359145" y="1860232"/>
                </a:lnTo>
                <a:lnTo>
                  <a:pt x="0" y="1860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6" name="Group 26"/>
          <p:cNvGrpSpPr/>
          <p:nvPr/>
        </p:nvGrpSpPr>
        <p:grpSpPr>
          <a:xfrm>
            <a:off x="6727329" y="8007548"/>
            <a:ext cx="3110210" cy="395883"/>
            <a:chOff x="0" y="0"/>
            <a:chExt cx="4146947" cy="52784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146947" cy="527844"/>
            </a:xfrm>
            <a:custGeom>
              <a:avLst/>
              <a:gdLst/>
              <a:ahLst/>
              <a:cxnLst/>
              <a:rect l="l" t="t" r="r" b="b"/>
              <a:pathLst>
                <a:path w="4146947" h="527844">
                  <a:moveTo>
                    <a:pt x="0" y="0"/>
                  </a:moveTo>
                  <a:lnTo>
                    <a:pt x="4146947" y="0"/>
                  </a:lnTo>
                  <a:lnTo>
                    <a:pt x="4146947" y="527844"/>
                  </a:lnTo>
                  <a:lnTo>
                    <a:pt x="0" y="5278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146947" cy="5373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99"/>
                </a:lnSpc>
              </a:pPr>
              <a:r>
                <a:rPr lang="en-US" sz="2436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Encoding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27329" y="8488412"/>
            <a:ext cx="4833194" cy="860524"/>
            <a:chOff x="0" y="0"/>
            <a:chExt cx="6444259" cy="114736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444259" cy="1147365"/>
            </a:xfrm>
            <a:custGeom>
              <a:avLst/>
              <a:gdLst/>
              <a:ahLst/>
              <a:cxnLst/>
              <a:rect l="l" t="t" r="r" b="b"/>
              <a:pathLst>
                <a:path w="6444259" h="1147365">
                  <a:moveTo>
                    <a:pt x="0" y="0"/>
                  </a:moveTo>
                  <a:lnTo>
                    <a:pt x="6444259" y="0"/>
                  </a:lnTo>
                  <a:lnTo>
                    <a:pt x="6444259" y="1147365"/>
                  </a:lnTo>
                  <a:lnTo>
                    <a:pt x="0" y="11473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85725"/>
              <a:ext cx="6444259" cy="12330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25"/>
                </a:lnSpc>
              </a:pPr>
              <a:r>
                <a:rPr lang="en-US" sz="1937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Categorical features encoded using One-Hot Encoding and Label Encoding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2062669" y="7751712"/>
            <a:ext cx="5359145" cy="1860232"/>
          </a:xfrm>
          <a:custGeom>
            <a:avLst/>
            <a:gdLst/>
            <a:ahLst/>
            <a:cxnLst/>
            <a:rect l="l" t="t" r="r" b="b"/>
            <a:pathLst>
              <a:path w="5359145" h="1860232">
                <a:moveTo>
                  <a:pt x="0" y="0"/>
                </a:moveTo>
                <a:lnTo>
                  <a:pt x="5359145" y="0"/>
                </a:lnTo>
                <a:lnTo>
                  <a:pt x="5359145" y="1860232"/>
                </a:lnTo>
                <a:lnTo>
                  <a:pt x="0" y="18602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3" name="Group 33"/>
          <p:cNvGrpSpPr/>
          <p:nvPr/>
        </p:nvGrpSpPr>
        <p:grpSpPr>
          <a:xfrm>
            <a:off x="12325647" y="8007548"/>
            <a:ext cx="3110210" cy="395883"/>
            <a:chOff x="0" y="0"/>
            <a:chExt cx="4146947" cy="52784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146947" cy="527844"/>
            </a:xfrm>
            <a:custGeom>
              <a:avLst/>
              <a:gdLst/>
              <a:ahLst/>
              <a:cxnLst/>
              <a:rect l="l" t="t" r="r" b="b"/>
              <a:pathLst>
                <a:path w="4146947" h="527844">
                  <a:moveTo>
                    <a:pt x="0" y="0"/>
                  </a:moveTo>
                  <a:lnTo>
                    <a:pt x="4146947" y="0"/>
                  </a:lnTo>
                  <a:lnTo>
                    <a:pt x="4146947" y="527844"/>
                  </a:lnTo>
                  <a:lnTo>
                    <a:pt x="0" y="5278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4146947" cy="53736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99"/>
                </a:lnSpc>
              </a:pPr>
              <a:r>
                <a:rPr lang="en-US" sz="2436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Feature Scaling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325647" y="8488412"/>
            <a:ext cx="4833194" cy="860524"/>
            <a:chOff x="0" y="0"/>
            <a:chExt cx="6444259" cy="114736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444259" cy="1147365"/>
            </a:xfrm>
            <a:custGeom>
              <a:avLst/>
              <a:gdLst/>
              <a:ahLst/>
              <a:cxnLst/>
              <a:rect l="l" t="t" r="r" b="b"/>
              <a:pathLst>
                <a:path w="6444259" h="1147365">
                  <a:moveTo>
                    <a:pt x="0" y="0"/>
                  </a:moveTo>
                  <a:lnTo>
                    <a:pt x="6444259" y="0"/>
                  </a:lnTo>
                  <a:lnTo>
                    <a:pt x="6444259" y="1147365"/>
                  </a:lnTo>
                  <a:lnTo>
                    <a:pt x="0" y="11473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6444259" cy="123309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25"/>
                </a:lnSpc>
              </a:pPr>
              <a:r>
                <a:rPr lang="en-US" sz="1937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Standardization or Normalization applied, e.g., StandardScaler.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preencoded.png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5" descr="preencoded.png"/>
          <p:cNvSpPr/>
          <p:nvPr/>
        </p:nvSpPr>
        <p:spPr>
          <a:xfrm>
            <a:off x="0" y="0"/>
            <a:ext cx="6858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7937748" y="1374130"/>
            <a:ext cx="9270504" cy="1638895"/>
            <a:chOff x="0" y="0"/>
            <a:chExt cx="12360672" cy="21851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60672" cy="2185193"/>
            </a:xfrm>
            <a:custGeom>
              <a:avLst/>
              <a:gdLst/>
              <a:ahLst/>
              <a:cxnLst/>
              <a:rect l="l" t="t" r="r" b="b"/>
              <a:pathLst>
                <a:path w="12360672" h="2185193">
                  <a:moveTo>
                    <a:pt x="0" y="0"/>
                  </a:moveTo>
                  <a:lnTo>
                    <a:pt x="12360672" y="0"/>
                  </a:lnTo>
                  <a:lnTo>
                    <a:pt x="12360672" y="2185193"/>
                  </a:lnTo>
                  <a:lnTo>
                    <a:pt x="0" y="21851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2360672" cy="221376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438"/>
                </a:lnSpc>
              </a:pPr>
              <a:r>
                <a:rPr lang="en-US" sz="5125">
                  <a:solidFill>
                    <a:srgbClr val="F5F0F0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Economic Impact: Reducing Healthcare Burden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933938" y="3697545"/>
            <a:ext cx="597575" cy="597575"/>
            <a:chOff x="0" y="0"/>
            <a:chExt cx="796767" cy="796767"/>
          </a:xfrm>
        </p:grpSpPr>
        <p:sp>
          <p:nvSpPr>
            <p:cNvPr id="10" name="Freeform 10"/>
            <p:cNvSpPr/>
            <p:nvPr/>
          </p:nvSpPr>
          <p:spPr>
            <a:xfrm>
              <a:off x="5080" y="5080"/>
              <a:ext cx="786511" cy="786638"/>
            </a:xfrm>
            <a:custGeom>
              <a:avLst/>
              <a:gdLst/>
              <a:ahLst/>
              <a:cxnLst/>
              <a:rect l="l" t="t" r="r" b="b"/>
              <a:pathLst>
                <a:path w="786511" h="786638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39699" y="0"/>
                  </a:lnTo>
                  <a:cubicBezTo>
                    <a:pt x="720852" y="0"/>
                    <a:pt x="786511" y="65786"/>
                    <a:pt x="786511" y="146812"/>
                  </a:cubicBezTo>
                  <a:lnTo>
                    <a:pt x="786511" y="639699"/>
                  </a:lnTo>
                  <a:cubicBezTo>
                    <a:pt x="786511" y="720852"/>
                    <a:pt x="720725" y="786511"/>
                    <a:pt x="639699" y="786511"/>
                  </a:cubicBezTo>
                  <a:lnTo>
                    <a:pt x="146812" y="786511"/>
                  </a:lnTo>
                  <a:cubicBezTo>
                    <a:pt x="65786" y="786638"/>
                    <a:pt x="0" y="720852"/>
                    <a:pt x="0" y="639699"/>
                  </a:cubicBezTo>
                  <a:close/>
                </a:path>
              </a:pathLst>
            </a:custGeom>
            <a:solidFill>
              <a:srgbClr val="00318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796671" cy="796798"/>
            </a:xfrm>
            <a:custGeom>
              <a:avLst/>
              <a:gdLst/>
              <a:ahLst/>
              <a:cxnLst/>
              <a:rect l="l" t="t" r="r" b="b"/>
              <a:pathLst>
                <a:path w="796671" h="796798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644779" y="0"/>
                  </a:lnTo>
                  <a:lnTo>
                    <a:pt x="644779" y="5080"/>
                  </a:lnTo>
                  <a:lnTo>
                    <a:pt x="644779" y="0"/>
                  </a:lnTo>
                  <a:cubicBezTo>
                    <a:pt x="728726" y="0"/>
                    <a:pt x="796671" y="68072"/>
                    <a:pt x="796671" y="151892"/>
                  </a:cubicBezTo>
                  <a:lnTo>
                    <a:pt x="796671" y="644779"/>
                  </a:lnTo>
                  <a:lnTo>
                    <a:pt x="791591" y="644779"/>
                  </a:lnTo>
                  <a:lnTo>
                    <a:pt x="796671" y="644779"/>
                  </a:lnTo>
                  <a:cubicBezTo>
                    <a:pt x="796671" y="728726"/>
                    <a:pt x="728599" y="796671"/>
                    <a:pt x="644779" y="796671"/>
                  </a:cubicBezTo>
                  <a:lnTo>
                    <a:pt x="644779" y="791591"/>
                  </a:lnTo>
                  <a:lnTo>
                    <a:pt x="644779" y="796671"/>
                  </a:lnTo>
                  <a:lnTo>
                    <a:pt x="151892" y="796671"/>
                  </a:lnTo>
                  <a:lnTo>
                    <a:pt x="151892" y="791591"/>
                  </a:lnTo>
                  <a:lnTo>
                    <a:pt x="151892" y="796671"/>
                  </a:lnTo>
                  <a:cubicBezTo>
                    <a:pt x="68072" y="796798"/>
                    <a:pt x="0" y="728726"/>
                    <a:pt x="0" y="644779"/>
                  </a:cubicBezTo>
                  <a:lnTo>
                    <a:pt x="0" y="151892"/>
                  </a:lnTo>
                  <a:lnTo>
                    <a:pt x="5080" y="151892"/>
                  </a:lnTo>
                  <a:lnTo>
                    <a:pt x="0" y="151892"/>
                  </a:lnTo>
                  <a:moveTo>
                    <a:pt x="10160" y="151892"/>
                  </a:moveTo>
                  <a:lnTo>
                    <a:pt x="10160" y="644779"/>
                  </a:lnTo>
                  <a:lnTo>
                    <a:pt x="5080" y="644779"/>
                  </a:lnTo>
                  <a:lnTo>
                    <a:pt x="10160" y="644779"/>
                  </a:lnTo>
                  <a:cubicBezTo>
                    <a:pt x="10160" y="723138"/>
                    <a:pt x="73660" y="786511"/>
                    <a:pt x="151892" y="786511"/>
                  </a:cubicBezTo>
                  <a:lnTo>
                    <a:pt x="644779" y="786511"/>
                  </a:lnTo>
                  <a:cubicBezTo>
                    <a:pt x="723138" y="786511"/>
                    <a:pt x="786511" y="723011"/>
                    <a:pt x="786511" y="644779"/>
                  </a:cubicBezTo>
                  <a:lnTo>
                    <a:pt x="786511" y="151892"/>
                  </a:lnTo>
                  <a:lnTo>
                    <a:pt x="791591" y="151892"/>
                  </a:lnTo>
                  <a:lnTo>
                    <a:pt x="786511" y="151892"/>
                  </a:lnTo>
                  <a:cubicBezTo>
                    <a:pt x="786638" y="73660"/>
                    <a:pt x="723138" y="10160"/>
                    <a:pt x="644779" y="10160"/>
                  </a:cubicBezTo>
                  <a:lnTo>
                    <a:pt x="151892" y="10160"/>
                  </a:lnTo>
                  <a:lnTo>
                    <a:pt x="151892" y="5080"/>
                  </a:lnTo>
                  <a:lnTo>
                    <a:pt x="151892" y="10160"/>
                  </a:lnTo>
                  <a:cubicBezTo>
                    <a:pt x="73660" y="10160"/>
                    <a:pt x="10160" y="73660"/>
                    <a:pt x="10160" y="151892"/>
                  </a:cubicBezTo>
                  <a:close/>
                </a:path>
              </a:pathLst>
            </a:custGeom>
            <a:solidFill>
              <a:srgbClr val="194A9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89938" y="3701356"/>
            <a:ext cx="6520160" cy="409724"/>
            <a:chOff x="0" y="0"/>
            <a:chExt cx="8693547" cy="5462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693547" cy="546299"/>
            </a:xfrm>
            <a:custGeom>
              <a:avLst/>
              <a:gdLst/>
              <a:ahLst/>
              <a:cxnLst/>
              <a:rect l="l" t="t" r="r" b="b"/>
              <a:pathLst>
                <a:path w="8693547" h="546299">
                  <a:moveTo>
                    <a:pt x="0" y="0"/>
                  </a:moveTo>
                  <a:lnTo>
                    <a:pt x="8693547" y="0"/>
                  </a:lnTo>
                  <a:lnTo>
                    <a:pt x="8693547" y="546299"/>
                  </a:lnTo>
                  <a:lnTo>
                    <a:pt x="0" y="5462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8693547" cy="55582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8"/>
                </a:lnSpc>
              </a:pPr>
              <a:r>
                <a:rPr lang="en-US" sz="2563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Early detection slows disease progression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933938" y="5139690"/>
            <a:ext cx="597575" cy="597575"/>
            <a:chOff x="0" y="0"/>
            <a:chExt cx="796767" cy="796767"/>
          </a:xfrm>
        </p:grpSpPr>
        <p:sp>
          <p:nvSpPr>
            <p:cNvPr id="16" name="Freeform 16"/>
            <p:cNvSpPr/>
            <p:nvPr/>
          </p:nvSpPr>
          <p:spPr>
            <a:xfrm>
              <a:off x="5080" y="5080"/>
              <a:ext cx="786511" cy="786638"/>
            </a:xfrm>
            <a:custGeom>
              <a:avLst/>
              <a:gdLst/>
              <a:ahLst/>
              <a:cxnLst/>
              <a:rect l="l" t="t" r="r" b="b"/>
              <a:pathLst>
                <a:path w="786511" h="786638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39699" y="0"/>
                  </a:lnTo>
                  <a:cubicBezTo>
                    <a:pt x="720852" y="0"/>
                    <a:pt x="786511" y="65786"/>
                    <a:pt x="786511" y="146812"/>
                  </a:cubicBezTo>
                  <a:lnTo>
                    <a:pt x="786511" y="639699"/>
                  </a:lnTo>
                  <a:cubicBezTo>
                    <a:pt x="786511" y="720852"/>
                    <a:pt x="720725" y="786511"/>
                    <a:pt x="639699" y="786511"/>
                  </a:cubicBezTo>
                  <a:lnTo>
                    <a:pt x="146812" y="786511"/>
                  </a:lnTo>
                  <a:cubicBezTo>
                    <a:pt x="65786" y="786638"/>
                    <a:pt x="0" y="720852"/>
                    <a:pt x="0" y="639699"/>
                  </a:cubicBezTo>
                  <a:close/>
                </a:path>
              </a:pathLst>
            </a:custGeom>
            <a:solidFill>
              <a:srgbClr val="00318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796671" cy="796798"/>
            </a:xfrm>
            <a:custGeom>
              <a:avLst/>
              <a:gdLst/>
              <a:ahLst/>
              <a:cxnLst/>
              <a:rect l="l" t="t" r="r" b="b"/>
              <a:pathLst>
                <a:path w="796671" h="796798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644779" y="0"/>
                  </a:lnTo>
                  <a:lnTo>
                    <a:pt x="644779" y="5080"/>
                  </a:lnTo>
                  <a:lnTo>
                    <a:pt x="644779" y="0"/>
                  </a:lnTo>
                  <a:cubicBezTo>
                    <a:pt x="728726" y="0"/>
                    <a:pt x="796671" y="68072"/>
                    <a:pt x="796671" y="151892"/>
                  </a:cubicBezTo>
                  <a:lnTo>
                    <a:pt x="796671" y="644779"/>
                  </a:lnTo>
                  <a:lnTo>
                    <a:pt x="791591" y="644779"/>
                  </a:lnTo>
                  <a:lnTo>
                    <a:pt x="796671" y="644779"/>
                  </a:lnTo>
                  <a:cubicBezTo>
                    <a:pt x="796671" y="728726"/>
                    <a:pt x="728599" y="796671"/>
                    <a:pt x="644779" y="796671"/>
                  </a:cubicBezTo>
                  <a:lnTo>
                    <a:pt x="644779" y="791591"/>
                  </a:lnTo>
                  <a:lnTo>
                    <a:pt x="644779" y="796671"/>
                  </a:lnTo>
                  <a:lnTo>
                    <a:pt x="151892" y="796671"/>
                  </a:lnTo>
                  <a:lnTo>
                    <a:pt x="151892" y="791591"/>
                  </a:lnTo>
                  <a:lnTo>
                    <a:pt x="151892" y="796671"/>
                  </a:lnTo>
                  <a:cubicBezTo>
                    <a:pt x="68072" y="796798"/>
                    <a:pt x="0" y="728726"/>
                    <a:pt x="0" y="644779"/>
                  </a:cubicBezTo>
                  <a:lnTo>
                    <a:pt x="0" y="151892"/>
                  </a:lnTo>
                  <a:lnTo>
                    <a:pt x="5080" y="151892"/>
                  </a:lnTo>
                  <a:lnTo>
                    <a:pt x="0" y="151892"/>
                  </a:lnTo>
                  <a:moveTo>
                    <a:pt x="10160" y="151892"/>
                  </a:moveTo>
                  <a:lnTo>
                    <a:pt x="10160" y="644779"/>
                  </a:lnTo>
                  <a:lnTo>
                    <a:pt x="5080" y="644779"/>
                  </a:lnTo>
                  <a:lnTo>
                    <a:pt x="10160" y="644779"/>
                  </a:lnTo>
                  <a:cubicBezTo>
                    <a:pt x="10160" y="723138"/>
                    <a:pt x="73660" y="786511"/>
                    <a:pt x="151892" y="786511"/>
                  </a:cubicBezTo>
                  <a:lnTo>
                    <a:pt x="644779" y="786511"/>
                  </a:lnTo>
                  <a:cubicBezTo>
                    <a:pt x="723138" y="786511"/>
                    <a:pt x="786511" y="723011"/>
                    <a:pt x="786511" y="644779"/>
                  </a:cubicBezTo>
                  <a:lnTo>
                    <a:pt x="786511" y="151892"/>
                  </a:lnTo>
                  <a:lnTo>
                    <a:pt x="791591" y="151892"/>
                  </a:lnTo>
                  <a:lnTo>
                    <a:pt x="786511" y="151892"/>
                  </a:lnTo>
                  <a:cubicBezTo>
                    <a:pt x="786638" y="73660"/>
                    <a:pt x="723138" y="10160"/>
                    <a:pt x="644779" y="10160"/>
                  </a:cubicBezTo>
                  <a:lnTo>
                    <a:pt x="151892" y="10160"/>
                  </a:lnTo>
                  <a:lnTo>
                    <a:pt x="151892" y="5080"/>
                  </a:lnTo>
                  <a:lnTo>
                    <a:pt x="151892" y="10160"/>
                  </a:lnTo>
                  <a:cubicBezTo>
                    <a:pt x="73660" y="10160"/>
                    <a:pt x="10160" y="73660"/>
                    <a:pt x="10160" y="151892"/>
                  </a:cubicBezTo>
                  <a:close/>
                </a:path>
              </a:pathLst>
            </a:custGeom>
            <a:solidFill>
              <a:srgbClr val="194A9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789938" y="5143501"/>
            <a:ext cx="7700219" cy="409724"/>
            <a:chOff x="0" y="0"/>
            <a:chExt cx="10266959" cy="5462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66959" cy="546299"/>
            </a:xfrm>
            <a:custGeom>
              <a:avLst/>
              <a:gdLst/>
              <a:ahLst/>
              <a:cxnLst/>
              <a:rect l="l" t="t" r="r" b="b"/>
              <a:pathLst>
                <a:path w="10266959" h="546299">
                  <a:moveTo>
                    <a:pt x="0" y="0"/>
                  </a:moveTo>
                  <a:lnTo>
                    <a:pt x="10266959" y="0"/>
                  </a:lnTo>
                  <a:lnTo>
                    <a:pt x="10266959" y="546299"/>
                  </a:lnTo>
                  <a:lnTo>
                    <a:pt x="0" y="5462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10266959" cy="55582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8"/>
                </a:lnSpc>
              </a:pPr>
              <a:r>
                <a:rPr lang="en-US" sz="2563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Decreases long-term treatment costs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933938" y="6581835"/>
            <a:ext cx="597575" cy="597575"/>
            <a:chOff x="0" y="0"/>
            <a:chExt cx="796767" cy="796767"/>
          </a:xfrm>
        </p:grpSpPr>
        <p:sp>
          <p:nvSpPr>
            <p:cNvPr id="22" name="Freeform 22"/>
            <p:cNvSpPr/>
            <p:nvPr/>
          </p:nvSpPr>
          <p:spPr>
            <a:xfrm>
              <a:off x="5080" y="5080"/>
              <a:ext cx="786511" cy="786638"/>
            </a:xfrm>
            <a:custGeom>
              <a:avLst/>
              <a:gdLst/>
              <a:ahLst/>
              <a:cxnLst/>
              <a:rect l="l" t="t" r="r" b="b"/>
              <a:pathLst>
                <a:path w="786511" h="786638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39699" y="0"/>
                  </a:lnTo>
                  <a:cubicBezTo>
                    <a:pt x="720852" y="0"/>
                    <a:pt x="786511" y="65786"/>
                    <a:pt x="786511" y="146812"/>
                  </a:cubicBezTo>
                  <a:lnTo>
                    <a:pt x="786511" y="639699"/>
                  </a:lnTo>
                  <a:cubicBezTo>
                    <a:pt x="786511" y="720852"/>
                    <a:pt x="720725" y="786511"/>
                    <a:pt x="639699" y="786511"/>
                  </a:cubicBezTo>
                  <a:lnTo>
                    <a:pt x="146812" y="786511"/>
                  </a:lnTo>
                  <a:cubicBezTo>
                    <a:pt x="65786" y="786638"/>
                    <a:pt x="0" y="720852"/>
                    <a:pt x="0" y="639699"/>
                  </a:cubicBezTo>
                  <a:close/>
                </a:path>
              </a:pathLst>
            </a:custGeom>
            <a:solidFill>
              <a:srgbClr val="00318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796671" cy="796798"/>
            </a:xfrm>
            <a:custGeom>
              <a:avLst/>
              <a:gdLst/>
              <a:ahLst/>
              <a:cxnLst/>
              <a:rect l="l" t="t" r="r" b="b"/>
              <a:pathLst>
                <a:path w="796671" h="796798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644779" y="0"/>
                  </a:lnTo>
                  <a:lnTo>
                    <a:pt x="644779" y="5080"/>
                  </a:lnTo>
                  <a:lnTo>
                    <a:pt x="644779" y="0"/>
                  </a:lnTo>
                  <a:cubicBezTo>
                    <a:pt x="728726" y="0"/>
                    <a:pt x="796671" y="68072"/>
                    <a:pt x="796671" y="151892"/>
                  </a:cubicBezTo>
                  <a:lnTo>
                    <a:pt x="796671" y="644779"/>
                  </a:lnTo>
                  <a:lnTo>
                    <a:pt x="791591" y="644779"/>
                  </a:lnTo>
                  <a:lnTo>
                    <a:pt x="796671" y="644779"/>
                  </a:lnTo>
                  <a:cubicBezTo>
                    <a:pt x="796671" y="728726"/>
                    <a:pt x="728599" y="796671"/>
                    <a:pt x="644779" y="796671"/>
                  </a:cubicBezTo>
                  <a:lnTo>
                    <a:pt x="644779" y="791591"/>
                  </a:lnTo>
                  <a:lnTo>
                    <a:pt x="644779" y="796671"/>
                  </a:lnTo>
                  <a:lnTo>
                    <a:pt x="151892" y="796671"/>
                  </a:lnTo>
                  <a:lnTo>
                    <a:pt x="151892" y="791591"/>
                  </a:lnTo>
                  <a:lnTo>
                    <a:pt x="151892" y="796671"/>
                  </a:lnTo>
                  <a:cubicBezTo>
                    <a:pt x="68072" y="796798"/>
                    <a:pt x="0" y="728726"/>
                    <a:pt x="0" y="644779"/>
                  </a:cubicBezTo>
                  <a:lnTo>
                    <a:pt x="0" y="151892"/>
                  </a:lnTo>
                  <a:lnTo>
                    <a:pt x="5080" y="151892"/>
                  </a:lnTo>
                  <a:lnTo>
                    <a:pt x="0" y="151892"/>
                  </a:lnTo>
                  <a:moveTo>
                    <a:pt x="10160" y="151892"/>
                  </a:moveTo>
                  <a:lnTo>
                    <a:pt x="10160" y="644779"/>
                  </a:lnTo>
                  <a:lnTo>
                    <a:pt x="5080" y="644779"/>
                  </a:lnTo>
                  <a:lnTo>
                    <a:pt x="10160" y="644779"/>
                  </a:lnTo>
                  <a:cubicBezTo>
                    <a:pt x="10160" y="723138"/>
                    <a:pt x="73660" y="786511"/>
                    <a:pt x="151892" y="786511"/>
                  </a:cubicBezTo>
                  <a:lnTo>
                    <a:pt x="644779" y="786511"/>
                  </a:lnTo>
                  <a:cubicBezTo>
                    <a:pt x="723138" y="786511"/>
                    <a:pt x="786511" y="723011"/>
                    <a:pt x="786511" y="644779"/>
                  </a:cubicBezTo>
                  <a:lnTo>
                    <a:pt x="786511" y="151892"/>
                  </a:lnTo>
                  <a:lnTo>
                    <a:pt x="791591" y="151892"/>
                  </a:lnTo>
                  <a:lnTo>
                    <a:pt x="786511" y="151892"/>
                  </a:lnTo>
                  <a:cubicBezTo>
                    <a:pt x="786638" y="73660"/>
                    <a:pt x="723138" y="10160"/>
                    <a:pt x="644779" y="10160"/>
                  </a:cubicBezTo>
                  <a:lnTo>
                    <a:pt x="151892" y="10160"/>
                  </a:lnTo>
                  <a:lnTo>
                    <a:pt x="151892" y="5080"/>
                  </a:lnTo>
                  <a:lnTo>
                    <a:pt x="151892" y="10160"/>
                  </a:lnTo>
                  <a:cubicBezTo>
                    <a:pt x="73660" y="10160"/>
                    <a:pt x="10160" y="73660"/>
                    <a:pt x="10160" y="151892"/>
                  </a:cubicBezTo>
                  <a:close/>
                </a:path>
              </a:pathLst>
            </a:custGeom>
            <a:solidFill>
              <a:srgbClr val="194A9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789938" y="6585645"/>
            <a:ext cx="8418314" cy="819448"/>
            <a:chOff x="0" y="0"/>
            <a:chExt cx="11224419" cy="109259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224419" cy="1092597"/>
            </a:xfrm>
            <a:custGeom>
              <a:avLst/>
              <a:gdLst/>
              <a:ahLst/>
              <a:cxnLst/>
              <a:rect l="l" t="t" r="r" b="b"/>
              <a:pathLst>
                <a:path w="11224419" h="1092597">
                  <a:moveTo>
                    <a:pt x="0" y="0"/>
                  </a:moveTo>
                  <a:lnTo>
                    <a:pt x="11224419" y="0"/>
                  </a:lnTo>
                  <a:lnTo>
                    <a:pt x="11224419" y="1092597"/>
                  </a:lnTo>
                  <a:lnTo>
                    <a:pt x="0" y="109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1224419" cy="110212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8"/>
                </a:lnSpc>
              </a:pPr>
              <a:r>
                <a:rPr lang="en-US" sz="2563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Reduces hospital visits and improves patient productivity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933938" y="8023979"/>
            <a:ext cx="597575" cy="597575"/>
            <a:chOff x="0" y="0"/>
            <a:chExt cx="796767" cy="796767"/>
          </a:xfrm>
        </p:grpSpPr>
        <p:sp>
          <p:nvSpPr>
            <p:cNvPr id="28" name="Freeform 28"/>
            <p:cNvSpPr/>
            <p:nvPr/>
          </p:nvSpPr>
          <p:spPr>
            <a:xfrm>
              <a:off x="5080" y="5080"/>
              <a:ext cx="786511" cy="786638"/>
            </a:xfrm>
            <a:custGeom>
              <a:avLst/>
              <a:gdLst/>
              <a:ahLst/>
              <a:cxnLst/>
              <a:rect l="l" t="t" r="r" b="b"/>
              <a:pathLst>
                <a:path w="786511" h="786638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639699" y="0"/>
                  </a:lnTo>
                  <a:cubicBezTo>
                    <a:pt x="720852" y="0"/>
                    <a:pt x="786511" y="65786"/>
                    <a:pt x="786511" y="146812"/>
                  </a:cubicBezTo>
                  <a:lnTo>
                    <a:pt x="786511" y="639699"/>
                  </a:lnTo>
                  <a:cubicBezTo>
                    <a:pt x="786511" y="720852"/>
                    <a:pt x="720725" y="786511"/>
                    <a:pt x="639699" y="786511"/>
                  </a:cubicBezTo>
                  <a:lnTo>
                    <a:pt x="146812" y="786511"/>
                  </a:lnTo>
                  <a:cubicBezTo>
                    <a:pt x="65786" y="786638"/>
                    <a:pt x="0" y="720852"/>
                    <a:pt x="0" y="639699"/>
                  </a:cubicBezTo>
                  <a:close/>
                </a:path>
              </a:pathLst>
            </a:custGeom>
            <a:solidFill>
              <a:srgbClr val="00318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796671" cy="796798"/>
            </a:xfrm>
            <a:custGeom>
              <a:avLst/>
              <a:gdLst/>
              <a:ahLst/>
              <a:cxnLst/>
              <a:rect l="l" t="t" r="r" b="b"/>
              <a:pathLst>
                <a:path w="796671" h="796798">
                  <a:moveTo>
                    <a:pt x="0" y="151892"/>
                  </a:moveTo>
                  <a:cubicBezTo>
                    <a:pt x="0" y="68072"/>
                    <a:pt x="68072" y="0"/>
                    <a:pt x="151892" y="0"/>
                  </a:cubicBezTo>
                  <a:lnTo>
                    <a:pt x="644779" y="0"/>
                  </a:lnTo>
                  <a:lnTo>
                    <a:pt x="644779" y="5080"/>
                  </a:lnTo>
                  <a:lnTo>
                    <a:pt x="644779" y="0"/>
                  </a:lnTo>
                  <a:cubicBezTo>
                    <a:pt x="728726" y="0"/>
                    <a:pt x="796671" y="68072"/>
                    <a:pt x="796671" y="151892"/>
                  </a:cubicBezTo>
                  <a:lnTo>
                    <a:pt x="796671" y="644779"/>
                  </a:lnTo>
                  <a:lnTo>
                    <a:pt x="791591" y="644779"/>
                  </a:lnTo>
                  <a:lnTo>
                    <a:pt x="796671" y="644779"/>
                  </a:lnTo>
                  <a:cubicBezTo>
                    <a:pt x="796671" y="728726"/>
                    <a:pt x="728599" y="796671"/>
                    <a:pt x="644779" y="796671"/>
                  </a:cubicBezTo>
                  <a:lnTo>
                    <a:pt x="644779" y="791591"/>
                  </a:lnTo>
                  <a:lnTo>
                    <a:pt x="644779" y="796671"/>
                  </a:lnTo>
                  <a:lnTo>
                    <a:pt x="151892" y="796671"/>
                  </a:lnTo>
                  <a:lnTo>
                    <a:pt x="151892" y="791591"/>
                  </a:lnTo>
                  <a:lnTo>
                    <a:pt x="151892" y="796671"/>
                  </a:lnTo>
                  <a:cubicBezTo>
                    <a:pt x="68072" y="796798"/>
                    <a:pt x="0" y="728726"/>
                    <a:pt x="0" y="644779"/>
                  </a:cubicBezTo>
                  <a:lnTo>
                    <a:pt x="0" y="151892"/>
                  </a:lnTo>
                  <a:lnTo>
                    <a:pt x="5080" y="151892"/>
                  </a:lnTo>
                  <a:lnTo>
                    <a:pt x="0" y="151892"/>
                  </a:lnTo>
                  <a:moveTo>
                    <a:pt x="10160" y="151892"/>
                  </a:moveTo>
                  <a:lnTo>
                    <a:pt x="10160" y="644779"/>
                  </a:lnTo>
                  <a:lnTo>
                    <a:pt x="5080" y="644779"/>
                  </a:lnTo>
                  <a:lnTo>
                    <a:pt x="10160" y="644779"/>
                  </a:lnTo>
                  <a:cubicBezTo>
                    <a:pt x="10160" y="723138"/>
                    <a:pt x="73660" y="786511"/>
                    <a:pt x="151892" y="786511"/>
                  </a:cubicBezTo>
                  <a:lnTo>
                    <a:pt x="644779" y="786511"/>
                  </a:lnTo>
                  <a:cubicBezTo>
                    <a:pt x="723138" y="786511"/>
                    <a:pt x="786511" y="723011"/>
                    <a:pt x="786511" y="644779"/>
                  </a:cubicBezTo>
                  <a:lnTo>
                    <a:pt x="786511" y="151892"/>
                  </a:lnTo>
                  <a:lnTo>
                    <a:pt x="791591" y="151892"/>
                  </a:lnTo>
                  <a:lnTo>
                    <a:pt x="786511" y="151892"/>
                  </a:lnTo>
                  <a:cubicBezTo>
                    <a:pt x="786638" y="73660"/>
                    <a:pt x="723138" y="10160"/>
                    <a:pt x="644779" y="10160"/>
                  </a:cubicBezTo>
                  <a:lnTo>
                    <a:pt x="151892" y="10160"/>
                  </a:lnTo>
                  <a:lnTo>
                    <a:pt x="151892" y="5080"/>
                  </a:lnTo>
                  <a:lnTo>
                    <a:pt x="151892" y="10160"/>
                  </a:lnTo>
                  <a:cubicBezTo>
                    <a:pt x="73660" y="10160"/>
                    <a:pt x="10160" y="73660"/>
                    <a:pt x="10160" y="151892"/>
                  </a:cubicBezTo>
                  <a:close/>
                </a:path>
              </a:pathLst>
            </a:custGeom>
            <a:solidFill>
              <a:srgbClr val="194A9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789938" y="8027788"/>
            <a:ext cx="7897862" cy="1306711"/>
            <a:chOff x="0" y="0"/>
            <a:chExt cx="10530483" cy="174228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530483" cy="1742281"/>
            </a:xfrm>
            <a:custGeom>
              <a:avLst/>
              <a:gdLst/>
              <a:ahLst/>
              <a:cxnLst/>
              <a:rect l="l" t="t" r="r" b="b"/>
              <a:pathLst>
                <a:path w="10530483" h="1742281">
                  <a:moveTo>
                    <a:pt x="0" y="0"/>
                  </a:moveTo>
                  <a:lnTo>
                    <a:pt x="10530483" y="0"/>
                  </a:lnTo>
                  <a:lnTo>
                    <a:pt x="10530483" y="1742281"/>
                  </a:lnTo>
                  <a:lnTo>
                    <a:pt x="0" y="17422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10530483" cy="1751806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88"/>
                </a:lnSpc>
              </a:pPr>
              <a:r>
                <a:rPr lang="en-US" sz="2563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 Improves workforce participation and reduces </a:t>
              </a:r>
            </a:p>
            <a:p>
              <a:pPr algn="l">
                <a:lnSpc>
                  <a:spcPts val="3188"/>
                </a:lnSpc>
              </a:pPr>
              <a:r>
                <a:rPr lang="en-US" sz="2563">
                  <a:solidFill>
                    <a:srgbClr val="E2E6E9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disability rates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12006" y="609303"/>
            <a:ext cx="16663988" cy="1478459"/>
            <a:chOff x="0" y="0"/>
            <a:chExt cx="22218651" cy="19712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218650" cy="1971279"/>
            </a:xfrm>
            <a:custGeom>
              <a:avLst/>
              <a:gdLst/>
              <a:ahLst/>
              <a:cxnLst/>
              <a:rect l="l" t="t" r="r" b="b"/>
              <a:pathLst>
                <a:path w="22218650" h="1971279">
                  <a:moveTo>
                    <a:pt x="0" y="0"/>
                  </a:moveTo>
                  <a:lnTo>
                    <a:pt x="22218650" y="0"/>
                  </a:lnTo>
                  <a:lnTo>
                    <a:pt x="22218650" y="1971279"/>
                  </a:lnTo>
                  <a:lnTo>
                    <a:pt x="0" y="19712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2218651" cy="200937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687"/>
                </a:lnSpc>
              </a:pPr>
              <a:r>
                <a:rPr lang="en-US" sz="4562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Methodology: ML Models, Training, and Evaluation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12006" y="2508797"/>
            <a:ext cx="16663988" cy="414039"/>
            <a:chOff x="0" y="0"/>
            <a:chExt cx="22218651" cy="55205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218650" cy="552053"/>
            </a:xfrm>
            <a:custGeom>
              <a:avLst/>
              <a:gdLst/>
              <a:ahLst/>
              <a:cxnLst/>
              <a:rect l="l" t="t" r="r" b="b"/>
              <a:pathLst>
                <a:path w="22218650" h="552053">
                  <a:moveTo>
                    <a:pt x="0" y="0"/>
                  </a:moveTo>
                  <a:lnTo>
                    <a:pt x="22218650" y="0"/>
                  </a:lnTo>
                  <a:lnTo>
                    <a:pt x="22218650" y="552053"/>
                  </a:lnTo>
                  <a:lnTo>
                    <a:pt x="0" y="5520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22218651" cy="6092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74"/>
                </a:lnSpc>
              </a:pPr>
              <a:r>
                <a:rPr lang="en-US" sz="1812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We employed  Random Forest, and XGBoost.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12006" y="3140869"/>
            <a:ext cx="16663988" cy="414039"/>
            <a:chOff x="0" y="0"/>
            <a:chExt cx="22218651" cy="55205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218650" cy="552053"/>
            </a:xfrm>
            <a:custGeom>
              <a:avLst/>
              <a:gdLst/>
              <a:ahLst/>
              <a:cxnLst/>
              <a:rect l="l" t="t" r="r" b="b"/>
              <a:pathLst>
                <a:path w="22218650" h="552053">
                  <a:moveTo>
                    <a:pt x="0" y="0"/>
                  </a:moveTo>
                  <a:lnTo>
                    <a:pt x="22218650" y="0"/>
                  </a:lnTo>
                  <a:lnTo>
                    <a:pt x="22218650" y="552053"/>
                  </a:lnTo>
                  <a:lnTo>
                    <a:pt x="0" y="5520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22218651" cy="6092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74"/>
                </a:lnSpc>
              </a:pPr>
              <a:r>
                <a:rPr lang="en-US" sz="1812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was split: 80% for training and 20% for testing (stratified).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12006" y="3772942"/>
            <a:ext cx="16663988" cy="414039"/>
            <a:chOff x="0" y="0"/>
            <a:chExt cx="22218651" cy="55205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218650" cy="552053"/>
            </a:xfrm>
            <a:custGeom>
              <a:avLst/>
              <a:gdLst/>
              <a:ahLst/>
              <a:cxnLst/>
              <a:rect l="l" t="t" r="r" b="b"/>
              <a:pathLst>
                <a:path w="22218650" h="552053">
                  <a:moveTo>
                    <a:pt x="0" y="0"/>
                  </a:moveTo>
                  <a:lnTo>
                    <a:pt x="22218650" y="0"/>
                  </a:lnTo>
                  <a:lnTo>
                    <a:pt x="22218650" y="552053"/>
                  </a:lnTo>
                  <a:lnTo>
                    <a:pt x="0" y="5520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2218651" cy="6092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74"/>
                </a:lnSpc>
              </a:pPr>
              <a:r>
                <a:rPr lang="en-US" sz="1812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979985" y="5361087"/>
            <a:ext cx="2899916" cy="383976"/>
            <a:chOff x="0" y="0"/>
            <a:chExt cx="3866555" cy="5119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66555" cy="511968"/>
            </a:xfrm>
            <a:custGeom>
              <a:avLst/>
              <a:gdLst/>
              <a:ahLst/>
              <a:cxnLst/>
              <a:rect l="l" t="t" r="r" b="b"/>
              <a:pathLst>
                <a:path w="3866555" h="511968">
                  <a:moveTo>
                    <a:pt x="0" y="0"/>
                  </a:moveTo>
                  <a:lnTo>
                    <a:pt x="3866555" y="0"/>
                  </a:lnTo>
                  <a:lnTo>
                    <a:pt x="3866555" y="511968"/>
                  </a:lnTo>
                  <a:lnTo>
                    <a:pt x="0" y="511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3866555" cy="5405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2812"/>
                </a:lnSpc>
              </a:pPr>
              <a:r>
                <a:rPr lang="en-US" sz="2249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Models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2006" y="5841354"/>
            <a:ext cx="5067895" cy="414041"/>
            <a:chOff x="0" y="0"/>
            <a:chExt cx="6757193" cy="55205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757193" cy="552054"/>
            </a:xfrm>
            <a:custGeom>
              <a:avLst/>
              <a:gdLst/>
              <a:ahLst/>
              <a:cxnLst/>
              <a:rect l="l" t="t" r="r" b="b"/>
              <a:pathLst>
                <a:path w="6757193" h="552054">
                  <a:moveTo>
                    <a:pt x="0" y="0"/>
                  </a:moveTo>
                  <a:lnTo>
                    <a:pt x="6757193" y="0"/>
                  </a:lnTo>
                  <a:lnTo>
                    <a:pt x="6757193" y="552054"/>
                  </a:lnTo>
                  <a:lnTo>
                    <a:pt x="0" y="5520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6757193" cy="60920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2874"/>
                </a:lnSpc>
              </a:pPr>
              <a:r>
                <a:rPr lang="en-US" sz="1812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Selection of ML models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27861" y="4447878"/>
            <a:ext cx="5832276" cy="5832276"/>
            <a:chOff x="0" y="0"/>
            <a:chExt cx="7776368" cy="7776368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7776337" cy="7776337"/>
            </a:xfrm>
            <a:custGeom>
              <a:avLst/>
              <a:gdLst/>
              <a:ahLst/>
              <a:cxnLst/>
              <a:rect l="l" t="t" r="r" b="b"/>
              <a:pathLst>
                <a:path w="7776337" h="7776337">
                  <a:moveTo>
                    <a:pt x="0" y="0"/>
                  </a:moveTo>
                  <a:lnTo>
                    <a:pt x="7776337" y="0"/>
                  </a:lnTo>
                  <a:lnTo>
                    <a:pt x="7776337" y="7776337"/>
                  </a:lnTo>
                  <a:lnTo>
                    <a:pt x="0" y="7776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796585" y="5384081"/>
            <a:ext cx="347067" cy="526703"/>
            <a:chOff x="0" y="0"/>
            <a:chExt cx="462756" cy="70227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62756" cy="702270"/>
            </a:xfrm>
            <a:custGeom>
              <a:avLst/>
              <a:gdLst/>
              <a:ahLst/>
              <a:cxnLst/>
              <a:rect l="l" t="t" r="r" b="b"/>
              <a:pathLst>
                <a:path w="462756" h="702270">
                  <a:moveTo>
                    <a:pt x="0" y="0"/>
                  </a:moveTo>
                  <a:lnTo>
                    <a:pt x="462756" y="0"/>
                  </a:lnTo>
                  <a:lnTo>
                    <a:pt x="462756" y="702270"/>
                  </a:lnTo>
                  <a:lnTo>
                    <a:pt x="0" y="7022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23825"/>
              <a:ext cx="462756" cy="8260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12"/>
                </a:lnSpc>
              </a:pPr>
              <a:r>
                <a:rPr lang="en-US" sz="2687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408099" y="5361087"/>
            <a:ext cx="2899916" cy="383976"/>
            <a:chOff x="0" y="0"/>
            <a:chExt cx="3866555" cy="51196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866555" cy="511968"/>
            </a:xfrm>
            <a:custGeom>
              <a:avLst/>
              <a:gdLst/>
              <a:ahLst/>
              <a:cxnLst/>
              <a:rect l="l" t="t" r="r" b="b"/>
              <a:pathLst>
                <a:path w="3866555" h="511968">
                  <a:moveTo>
                    <a:pt x="0" y="0"/>
                  </a:moveTo>
                  <a:lnTo>
                    <a:pt x="3866555" y="0"/>
                  </a:lnTo>
                  <a:lnTo>
                    <a:pt x="3866555" y="511968"/>
                  </a:lnTo>
                  <a:lnTo>
                    <a:pt x="0" y="511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3866555" cy="5405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12"/>
                </a:lnSpc>
              </a:pPr>
              <a:r>
                <a:rPr lang="en-US" sz="2249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Training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408099" y="5841354"/>
            <a:ext cx="5067895" cy="414041"/>
            <a:chOff x="0" y="0"/>
            <a:chExt cx="6757193" cy="55205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757193" cy="552054"/>
            </a:xfrm>
            <a:custGeom>
              <a:avLst/>
              <a:gdLst/>
              <a:ahLst/>
              <a:cxnLst/>
              <a:rect l="l" t="t" r="r" b="b"/>
              <a:pathLst>
                <a:path w="6757193" h="552054">
                  <a:moveTo>
                    <a:pt x="0" y="0"/>
                  </a:moveTo>
                  <a:lnTo>
                    <a:pt x="6757193" y="0"/>
                  </a:lnTo>
                  <a:lnTo>
                    <a:pt x="6757193" y="552054"/>
                  </a:lnTo>
                  <a:lnTo>
                    <a:pt x="0" y="5520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6757193" cy="609204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74"/>
                </a:lnSpc>
              </a:pPr>
              <a:r>
                <a:rPr lang="en-US" sz="1812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split and cross-validation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27861" y="4447878"/>
            <a:ext cx="5832276" cy="5832276"/>
            <a:chOff x="0" y="0"/>
            <a:chExt cx="7776368" cy="7776368"/>
          </a:xfrm>
        </p:grpSpPr>
        <p:sp>
          <p:nvSpPr>
            <p:cNvPr id="36" name="Freeform 36" descr="preencoded.png"/>
            <p:cNvSpPr/>
            <p:nvPr/>
          </p:nvSpPr>
          <p:spPr>
            <a:xfrm>
              <a:off x="0" y="0"/>
              <a:ext cx="7776337" cy="7776337"/>
            </a:xfrm>
            <a:custGeom>
              <a:avLst/>
              <a:gdLst/>
              <a:ahLst/>
              <a:cxnLst/>
              <a:rect l="l" t="t" r="r" b="b"/>
              <a:pathLst>
                <a:path w="7776337" h="7776337">
                  <a:moveTo>
                    <a:pt x="0" y="0"/>
                  </a:moveTo>
                  <a:lnTo>
                    <a:pt x="7776337" y="0"/>
                  </a:lnTo>
                  <a:lnTo>
                    <a:pt x="7776337" y="7776337"/>
                  </a:lnTo>
                  <a:lnTo>
                    <a:pt x="0" y="7776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640392" y="5880422"/>
            <a:ext cx="347068" cy="526703"/>
            <a:chOff x="0" y="0"/>
            <a:chExt cx="462757" cy="70227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62757" cy="702270"/>
            </a:xfrm>
            <a:custGeom>
              <a:avLst/>
              <a:gdLst/>
              <a:ahLst/>
              <a:cxnLst/>
              <a:rect l="l" t="t" r="r" b="b"/>
              <a:pathLst>
                <a:path w="462757" h="702270">
                  <a:moveTo>
                    <a:pt x="0" y="0"/>
                  </a:moveTo>
                  <a:lnTo>
                    <a:pt x="462757" y="0"/>
                  </a:lnTo>
                  <a:lnTo>
                    <a:pt x="462757" y="702270"/>
                  </a:lnTo>
                  <a:lnTo>
                    <a:pt x="0" y="7022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23825"/>
              <a:ext cx="462757" cy="8260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12"/>
                </a:lnSpc>
              </a:pPr>
              <a:r>
                <a:rPr lang="en-US" sz="2687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408099" y="8451205"/>
            <a:ext cx="2899916" cy="383976"/>
            <a:chOff x="0" y="0"/>
            <a:chExt cx="3866555" cy="51196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866555" cy="511968"/>
            </a:xfrm>
            <a:custGeom>
              <a:avLst/>
              <a:gdLst/>
              <a:ahLst/>
              <a:cxnLst/>
              <a:rect l="l" t="t" r="r" b="b"/>
              <a:pathLst>
                <a:path w="3866555" h="511968">
                  <a:moveTo>
                    <a:pt x="0" y="0"/>
                  </a:moveTo>
                  <a:lnTo>
                    <a:pt x="3866555" y="0"/>
                  </a:lnTo>
                  <a:lnTo>
                    <a:pt x="3866555" y="511968"/>
                  </a:lnTo>
                  <a:lnTo>
                    <a:pt x="0" y="511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3866555" cy="5405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12"/>
                </a:lnSpc>
              </a:pPr>
              <a:r>
                <a:rPr lang="en-US" sz="2249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Tuning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408099" y="8931474"/>
            <a:ext cx="5067895" cy="414039"/>
            <a:chOff x="0" y="0"/>
            <a:chExt cx="6757193" cy="55205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757193" cy="552053"/>
            </a:xfrm>
            <a:custGeom>
              <a:avLst/>
              <a:gdLst/>
              <a:ahLst/>
              <a:cxnLst/>
              <a:rect l="l" t="t" r="r" b="b"/>
              <a:pathLst>
                <a:path w="6757193" h="552053">
                  <a:moveTo>
                    <a:pt x="0" y="0"/>
                  </a:moveTo>
                  <a:lnTo>
                    <a:pt x="6757193" y="0"/>
                  </a:lnTo>
                  <a:lnTo>
                    <a:pt x="6757193" y="552053"/>
                  </a:lnTo>
                  <a:lnTo>
                    <a:pt x="0" y="5520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6757193" cy="6092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874"/>
                </a:lnSpc>
              </a:pPr>
              <a:r>
                <a:rPr lang="en-US" sz="1812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Hyperparameter optimization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27861" y="4447878"/>
            <a:ext cx="5832276" cy="5832276"/>
            <a:chOff x="0" y="0"/>
            <a:chExt cx="7776368" cy="7776368"/>
          </a:xfrm>
        </p:grpSpPr>
        <p:sp>
          <p:nvSpPr>
            <p:cNvPr id="47" name="Freeform 47" descr="preencoded.png"/>
            <p:cNvSpPr/>
            <p:nvPr/>
          </p:nvSpPr>
          <p:spPr>
            <a:xfrm>
              <a:off x="0" y="0"/>
              <a:ext cx="7776337" cy="7776337"/>
            </a:xfrm>
            <a:custGeom>
              <a:avLst/>
              <a:gdLst/>
              <a:ahLst/>
              <a:cxnLst/>
              <a:rect l="l" t="t" r="r" b="b"/>
              <a:pathLst>
                <a:path w="7776337" h="7776337">
                  <a:moveTo>
                    <a:pt x="0" y="0"/>
                  </a:moveTo>
                  <a:lnTo>
                    <a:pt x="7776337" y="0"/>
                  </a:lnTo>
                  <a:lnTo>
                    <a:pt x="7776337" y="7776337"/>
                  </a:lnTo>
                  <a:lnTo>
                    <a:pt x="0" y="7776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144050" y="8724230"/>
            <a:ext cx="347068" cy="526703"/>
            <a:chOff x="0" y="0"/>
            <a:chExt cx="462757" cy="70227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62757" cy="702270"/>
            </a:xfrm>
            <a:custGeom>
              <a:avLst/>
              <a:gdLst/>
              <a:ahLst/>
              <a:cxnLst/>
              <a:rect l="l" t="t" r="r" b="b"/>
              <a:pathLst>
                <a:path w="462757" h="702270">
                  <a:moveTo>
                    <a:pt x="0" y="0"/>
                  </a:moveTo>
                  <a:lnTo>
                    <a:pt x="462757" y="0"/>
                  </a:lnTo>
                  <a:lnTo>
                    <a:pt x="462757" y="702270"/>
                  </a:lnTo>
                  <a:lnTo>
                    <a:pt x="0" y="7022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123825"/>
              <a:ext cx="462757" cy="8260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12"/>
                </a:lnSpc>
              </a:pPr>
              <a:r>
                <a:rPr lang="en-US" sz="2687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2979985" y="8451205"/>
            <a:ext cx="2899916" cy="383976"/>
            <a:chOff x="0" y="0"/>
            <a:chExt cx="3866555" cy="51196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866555" cy="511968"/>
            </a:xfrm>
            <a:custGeom>
              <a:avLst/>
              <a:gdLst/>
              <a:ahLst/>
              <a:cxnLst/>
              <a:rect l="l" t="t" r="r" b="b"/>
              <a:pathLst>
                <a:path w="3866555" h="511968">
                  <a:moveTo>
                    <a:pt x="0" y="0"/>
                  </a:moveTo>
                  <a:lnTo>
                    <a:pt x="3866555" y="0"/>
                  </a:lnTo>
                  <a:lnTo>
                    <a:pt x="3866555" y="511968"/>
                  </a:lnTo>
                  <a:lnTo>
                    <a:pt x="0" y="5119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3866555" cy="54054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2812"/>
                </a:lnSpc>
              </a:pPr>
              <a:r>
                <a:rPr lang="en-US" sz="2249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Evaluation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812006" y="8931474"/>
            <a:ext cx="5067895" cy="414039"/>
            <a:chOff x="0" y="0"/>
            <a:chExt cx="6757193" cy="552053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757193" cy="552053"/>
            </a:xfrm>
            <a:custGeom>
              <a:avLst/>
              <a:gdLst/>
              <a:ahLst/>
              <a:cxnLst/>
              <a:rect l="l" t="t" r="r" b="b"/>
              <a:pathLst>
                <a:path w="6757193" h="552053">
                  <a:moveTo>
                    <a:pt x="0" y="0"/>
                  </a:moveTo>
                  <a:lnTo>
                    <a:pt x="6757193" y="0"/>
                  </a:lnTo>
                  <a:lnTo>
                    <a:pt x="6757193" y="552053"/>
                  </a:lnTo>
                  <a:lnTo>
                    <a:pt x="0" y="5520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57150"/>
              <a:ext cx="6757193" cy="60920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r">
                <a:lnSpc>
                  <a:spcPts val="2874"/>
                </a:lnSpc>
              </a:pPr>
              <a:r>
                <a:rPr lang="en-US" sz="1812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Performance metrics measured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227861" y="4447878"/>
            <a:ext cx="5832276" cy="5832276"/>
            <a:chOff x="0" y="0"/>
            <a:chExt cx="7776368" cy="7776368"/>
          </a:xfrm>
        </p:grpSpPr>
        <p:sp>
          <p:nvSpPr>
            <p:cNvPr id="58" name="Freeform 58" descr="preencoded.png"/>
            <p:cNvSpPr/>
            <p:nvPr/>
          </p:nvSpPr>
          <p:spPr>
            <a:xfrm>
              <a:off x="0" y="0"/>
              <a:ext cx="7776337" cy="7776337"/>
            </a:xfrm>
            <a:custGeom>
              <a:avLst/>
              <a:gdLst/>
              <a:ahLst/>
              <a:cxnLst/>
              <a:rect l="l" t="t" r="r" b="b"/>
              <a:pathLst>
                <a:path w="7776337" h="7776337">
                  <a:moveTo>
                    <a:pt x="0" y="0"/>
                  </a:moveTo>
                  <a:lnTo>
                    <a:pt x="7776337" y="0"/>
                  </a:lnTo>
                  <a:lnTo>
                    <a:pt x="7776337" y="7776337"/>
                  </a:lnTo>
                  <a:lnTo>
                    <a:pt x="0" y="7776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300242" y="8227888"/>
            <a:ext cx="347067" cy="526703"/>
            <a:chOff x="0" y="0"/>
            <a:chExt cx="462756" cy="70227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62756" cy="702270"/>
            </a:xfrm>
            <a:custGeom>
              <a:avLst/>
              <a:gdLst/>
              <a:ahLst/>
              <a:cxnLst/>
              <a:rect l="l" t="t" r="r" b="b"/>
              <a:pathLst>
                <a:path w="462756" h="702270">
                  <a:moveTo>
                    <a:pt x="0" y="0"/>
                  </a:moveTo>
                  <a:lnTo>
                    <a:pt x="462756" y="0"/>
                  </a:lnTo>
                  <a:lnTo>
                    <a:pt x="462756" y="702270"/>
                  </a:lnTo>
                  <a:lnTo>
                    <a:pt x="0" y="7022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123825"/>
              <a:ext cx="462756" cy="82609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12"/>
                </a:lnSpc>
              </a:pPr>
              <a:r>
                <a:rPr lang="en-US" sz="2687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620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1" r="-8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9042" y="1488429"/>
            <a:ext cx="9611916" cy="1665982"/>
            <a:chOff x="0" y="0"/>
            <a:chExt cx="12815888" cy="22213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815888" cy="2221310"/>
            </a:xfrm>
            <a:custGeom>
              <a:avLst/>
              <a:gdLst/>
              <a:ahLst/>
              <a:cxnLst/>
              <a:rect l="l" t="t" r="r" b="b"/>
              <a:pathLst>
                <a:path w="12815888" h="2221310">
                  <a:moveTo>
                    <a:pt x="0" y="0"/>
                  </a:moveTo>
                  <a:lnTo>
                    <a:pt x="12815888" y="0"/>
                  </a:lnTo>
                  <a:lnTo>
                    <a:pt x="12815888" y="2221310"/>
                  </a:lnTo>
                  <a:lnTo>
                    <a:pt x="0" y="22213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2815888" cy="227846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6373"/>
                </a:lnSpc>
              </a:pPr>
              <a:r>
                <a:rPr lang="en-US" sz="5062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Results: Performance and Key Findings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09042" y="3479601"/>
            <a:ext cx="9611916" cy="479823"/>
            <a:chOff x="0" y="0"/>
            <a:chExt cx="12815888" cy="63976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815888" cy="639764"/>
            </a:xfrm>
            <a:custGeom>
              <a:avLst/>
              <a:gdLst/>
              <a:ahLst/>
              <a:cxnLst/>
              <a:rect l="l" t="t" r="r" b="b"/>
              <a:pathLst>
                <a:path w="12815888" h="639764">
                  <a:moveTo>
                    <a:pt x="0" y="0"/>
                  </a:moveTo>
                  <a:lnTo>
                    <a:pt x="12815888" y="0"/>
                  </a:lnTo>
                  <a:lnTo>
                    <a:pt x="12815888" y="639764"/>
                  </a:lnTo>
                  <a:lnTo>
                    <a:pt x="0" y="6397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12815888" cy="72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XGBoost outperformed other models in accuracy and AUC-ROC.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09042" y="4187278"/>
            <a:ext cx="9611916" cy="479823"/>
            <a:chOff x="0" y="0"/>
            <a:chExt cx="12815888" cy="63976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815888" cy="639764"/>
            </a:xfrm>
            <a:custGeom>
              <a:avLst/>
              <a:gdLst/>
              <a:ahLst/>
              <a:cxnLst/>
              <a:rect l="l" t="t" r="r" b="b"/>
              <a:pathLst>
                <a:path w="12815888" h="639764">
                  <a:moveTo>
                    <a:pt x="0" y="0"/>
                  </a:moveTo>
                  <a:lnTo>
                    <a:pt x="12815888" y="0"/>
                  </a:lnTo>
                  <a:lnTo>
                    <a:pt x="12815888" y="639764"/>
                  </a:lnTo>
                  <a:lnTo>
                    <a:pt x="0" y="6397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85725"/>
              <a:ext cx="12815888" cy="72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Important features: Serum Creatinine, Hemoglobin, and Albumin levels.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09042" y="4894957"/>
            <a:ext cx="9611916" cy="479823"/>
            <a:chOff x="0" y="0"/>
            <a:chExt cx="12815888" cy="63976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815888" cy="639764"/>
            </a:xfrm>
            <a:custGeom>
              <a:avLst/>
              <a:gdLst/>
              <a:ahLst/>
              <a:cxnLst/>
              <a:rect l="l" t="t" r="r" b="b"/>
              <a:pathLst>
                <a:path w="12815888" h="639764">
                  <a:moveTo>
                    <a:pt x="0" y="0"/>
                  </a:moveTo>
                  <a:lnTo>
                    <a:pt x="12815888" y="0"/>
                  </a:lnTo>
                  <a:lnTo>
                    <a:pt x="12815888" y="639764"/>
                  </a:lnTo>
                  <a:lnTo>
                    <a:pt x="0" y="6397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12815888" cy="7254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The models were highly predictive of CKD.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904280" y="5662166"/>
            <a:ext cx="9621488" cy="3098292"/>
          </a:xfrm>
          <a:custGeom>
            <a:avLst/>
            <a:gdLst/>
            <a:ahLst/>
            <a:cxnLst/>
            <a:rect l="l" t="t" r="r" b="b"/>
            <a:pathLst>
              <a:path w="9621488" h="3098292">
                <a:moveTo>
                  <a:pt x="0" y="0"/>
                </a:moveTo>
                <a:lnTo>
                  <a:pt x="9621488" y="0"/>
                </a:lnTo>
                <a:lnTo>
                  <a:pt x="9621488" y="3098292"/>
                </a:lnTo>
                <a:lnTo>
                  <a:pt x="0" y="30982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3" name="Group 23"/>
          <p:cNvGrpSpPr/>
          <p:nvPr/>
        </p:nvGrpSpPr>
        <p:grpSpPr>
          <a:xfrm>
            <a:off x="1140209" y="6326211"/>
            <a:ext cx="1987336" cy="479823"/>
            <a:chOff x="0" y="0"/>
            <a:chExt cx="2649781" cy="63976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649781" cy="639764"/>
            </a:xfrm>
            <a:custGeom>
              <a:avLst/>
              <a:gdLst/>
              <a:ahLst/>
              <a:cxnLst/>
              <a:rect l="l" t="t" r="r" b="b"/>
              <a:pathLst>
                <a:path w="2649781" h="639764">
                  <a:moveTo>
                    <a:pt x="0" y="0"/>
                  </a:moveTo>
                  <a:lnTo>
                    <a:pt x="2649781" y="0"/>
                  </a:lnTo>
                  <a:lnTo>
                    <a:pt x="2649781" y="639764"/>
                  </a:lnTo>
                  <a:lnTo>
                    <a:pt x="0" y="6397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104775"/>
              <a:ext cx="2649781" cy="53498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3600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Model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61604" y="6278316"/>
            <a:ext cx="2781299" cy="895350"/>
            <a:chOff x="0" y="0"/>
            <a:chExt cx="3708399" cy="1193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708399" cy="1193800"/>
            </a:xfrm>
            <a:custGeom>
              <a:avLst/>
              <a:gdLst/>
              <a:ahLst/>
              <a:cxnLst/>
              <a:rect l="l" t="t" r="r" b="b"/>
              <a:pathLst>
                <a:path w="3708399" h="1193800">
                  <a:moveTo>
                    <a:pt x="0" y="0"/>
                  </a:moveTo>
                  <a:lnTo>
                    <a:pt x="3708399" y="0"/>
                  </a:lnTo>
                  <a:lnTo>
                    <a:pt x="3708399" y="1193800"/>
                  </a:lnTo>
                  <a:lnTo>
                    <a:pt x="0" y="1193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57150"/>
              <a:ext cx="3708399" cy="11366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49"/>
                </a:lnSpc>
              </a:pPr>
              <a:r>
                <a:rPr lang="en-US" sz="3200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Accuracy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72250" y="7077521"/>
            <a:ext cx="3042549" cy="2346981"/>
            <a:chOff x="0" y="0"/>
            <a:chExt cx="3304976" cy="1193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304976" cy="1193800"/>
            </a:xfrm>
            <a:custGeom>
              <a:avLst/>
              <a:gdLst/>
              <a:ahLst/>
              <a:cxnLst/>
              <a:rect l="l" t="t" r="r" b="b"/>
              <a:pathLst>
                <a:path w="3304976" h="1193800">
                  <a:moveTo>
                    <a:pt x="0" y="0"/>
                  </a:moveTo>
                  <a:lnTo>
                    <a:pt x="3304976" y="0"/>
                  </a:lnTo>
                  <a:lnTo>
                    <a:pt x="3304976" y="1193800"/>
                  </a:lnTo>
                  <a:lnTo>
                    <a:pt x="0" y="1193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104775"/>
              <a:ext cx="3304976" cy="108902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3600" dirty="0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Random Forest</a:t>
              </a:r>
            </a:p>
            <a:p>
              <a:pPr algn="l">
                <a:lnSpc>
                  <a:spcPts val="3250"/>
                </a:lnSpc>
              </a:pPr>
              <a:endParaRPr lang="en-US" sz="3600" dirty="0">
                <a:solidFill>
                  <a:srgbClr val="333F70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algn="l">
                <a:lnSpc>
                  <a:spcPts val="3249"/>
                </a:lnSpc>
              </a:pPr>
              <a:r>
                <a:rPr lang="en-US" sz="3200" dirty="0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XGBOOST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50710" y="7258620"/>
            <a:ext cx="3121405" cy="1161480"/>
            <a:chOff x="0" y="0"/>
            <a:chExt cx="4161873" cy="209288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161873" cy="2092880"/>
            </a:xfrm>
            <a:custGeom>
              <a:avLst/>
              <a:gdLst/>
              <a:ahLst/>
              <a:cxnLst/>
              <a:rect l="l" t="t" r="r" b="b"/>
              <a:pathLst>
                <a:path w="4161873" h="2092880">
                  <a:moveTo>
                    <a:pt x="0" y="0"/>
                  </a:moveTo>
                  <a:lnTo>
                    <a:pt x="4161873" y="0"/>
                  </a:lnTo>
                  <a:lnTo>
                    <a:pt x="4161873" y="2092880"/>
                  </a:lnTo>
                  <a:lnTo>
                    <a:pt x="0" y="2092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4161873" cy="2150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840"/>
                </a:lnSpc>
              </a:pPr>
              <a:r>
                <a:rPr lang="en-US" sz="3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99%</a:t>
              </a:r>
            </a:p>
            <a:p>
              <a:pPr algn="l">
                <a:lnSpc>
                  <a:spcPts val="3840"/>
                </a:lnSpc>
              </a:pPr>
              <a:endParaRPr lang="en-US" sz="3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840"/>
                </a:lnSpc>
              </a:pPr>
              <a:endParaRPr lang="en-US" sz="3200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3840"/>
                </a:lnSpc>
              </a:pPr>
              <a:r>
                <a:rPr lang="en-US" sz="3200" dirty="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98%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6F5EE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1" r="-8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45939" y="637580"/>
            <a:ext cx="9738122" cy="2294484"/>
            <a:chOff x="0" y="0"/>
            <a:chExt cx="12984163" cy="30593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984162" cy="3059312"/>
            </a:xfrm>
            <a:custGeom>
              <a:avLst/>
              <a:gdLst/>
              <a:ahLst/>
              <a:cxnLst/>
              <a:rect l="l" t="t" r="r" b="b"/>
              <a:pathLst>
                <a:path w="12984162" h="3059312">
                  <a:moveTo>
                    <a:pt x="0" y="0"/>
                  </a:moveTo>
                  <a:lnTo>
                    <a:pt x="12984162" y="0"/>
                  </a:lnTo>
                  <a:lnTo>
                    <a:pt x="12984162" y="3059312"/>
                  </a:lnTo>
                  <a:lnTo>
                    <a:pt x="0" y="3059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984163" cy="309741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937"/>
                </a:lnSpc>
              </a:pPr>
              <a:r>
                <a:rPr lang="en-US" sz="4750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Conclusion: Summary, Improvements, and Applications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45939" y="3237459"/>
            <a:ext cx="9738122" cy="443805"/>
            <a:chOff x="0" y="0"/>
            <a:chExt cx="12984163" cy="5917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984162" cy="591740"/>
            </a:xfrm>
            <a:custGeom>
              <a:avLst/>
              <a:gdLst/>
              <a:ahLst/>
              <a:cxnLst/>
              <a:rect l="l" t="t" r="r" b="b"/>
              <a:pathLst>
                <a:path w="12984162" h="591740">
                  <a:moveTo>
                    <a:pt x="0" y="0"/>
                  </a:moveTo>
                  <a:lnTo>
                    <a:pt x="12984162" y="0"/>
                  </a:lnTo>
                  <a:lnTo>
                    <a:pt x="12984162" y="591740"/>
                  </a:lnTo>
                  <a:lnTo>
                    <a:pt x="0" y="5917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12984163" cy="6679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Developed ML models for CKD prediction with high accuracy.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45939" y="3896022"/>
            <a:ext cx="9738122" cy="443805"/>
            <a:chOff x="0" y="0"/>
            <a:chExt cx="12984163" cy="5917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984162" cy="591740"/>
            </a:xfrm>
            <a:custGeom>
              <a:avLst/>
              <a:gdLst/>
              <a:ahLst/>
              <a:cxnLst/>
              <a:rect l="l" t="t" r="r" b="b"/>
              <a:pathLst>
                <a:path w="12984162" h="591740">
                  <a:moveTo>
                    <a:pt x="0" y="0"/>
                  </a:moveTo>
                  <a:lnTo>
                    <a:pt x="12984162" y="0"/>
                  </a:lnTo>
                  <a:lnTo>
                    <a:pt x="12984162" y="591740"/>
                  </a:lnTo>
                  <a:lnTo>
                    <a:pt x="0" y="5917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12984163" cy="6679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Potential improvements: Incorporate more clinical data.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5939" y="4554587"/>
            <a:ext cx="9738122" cy="443805"/>
            <a:chOff x="0" y="0"/>
            <a:chExt cx="12984163" cy="5917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984162" cy="591740"/>
            </a:xfrm>
            <a:custGeom>
              <a:avLst/>
              <a:gdLst/>
              <a:ahLst/>
              <a:cxnLst/>
              <a:rect l="l" t="t" r="r" b="b"/>
              <a:pathLst>
                <a:path w="12984162" h="591740">
                  <a:moveTo>
                    <a:pt x="0" y="0"/>
                  </a:moveTo>
                  <a:lnTo>
                    <a:pt x="12984162" y="0"/>
                  </a:lnTo>
                  <a:lnTo>
                    <a:pt x="12984162" y="591740"/>
                  </a:lnTo>
                  <a:lnTo>
                    <a:pt x="0" y="5917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76200"/>
              <a:ext cx="12984163" cy="6679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Applications: Early screening, decision support, treatment planning.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45939" y="5270301"/>
            <a:ext cx="1208485" cy="1450181"/>
            <a:chOff x="0" y="0"/>
            <a:chExt cx="1611313" cy="1933575"/>
          </a:xfrm>
        </p:grpSpPr>
        <p:sp>
          <p:nvSpPr>
            <p:cNvPr id="23" name="Freeform 23" descr="preencoded.png"/>
            <p:cNvSpPr/>
            <p:nvPr/>
          </p:nvSpPr>
          <p:spPr>
            <a:xfrm>
              <a:off x="0" y="0"/>
              <a:ext cx="1611376" cy="1933575"/>
            </a:xfrm>
            <a:custGeom>
              <a:avLst/>
              <a:gdLst/>
              <a:ahLst/>
              <a:cxnLst/>
              <a:rect l="l" t="t" r="r" b="b"/>
              <a:pathLst>
                <a:path w="1611376" h="1933575">
                  <a:moveTo>
                    <a:pt x="0" y="0"/>
                  </a:moveTo>
                  <a:lnTo>
                    <a:pt x="1611376" y="0"/>
                  </a:lnTo>
                  <a:lnTo>
                    <a:pt x="1611376" y="1933575"/>
                  </a:lnTo>
                  <a:lnTo>
                    <a:pt x="0" y="1933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1" r="-12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416969" y="5497711"/>
            <a:ext cx="3021360" cy="391866"/>
            <a:chOff x="0" y="0"/>
            <a:chExt cx="4028480" cy="52248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028480" cy="522487"/>
            </a:xfrm>
            <a:custGeom>
              <a:avLst/>
              <a:gdLst/>
              <a:ahLst/>
              <a:cxnLst/>
              <a:rect l="l" t="t" r="r" b="b"/>
              <a:pathLst>
                <a:path w="4028480" h="522487">
                  <a:moveTo>
                    <a:pt x="0" y="0"/>
                  </a:moveTo>
                  <a:lnTo>
                    <a:pt x="4028480" y="0"/>
                  </a:lnTo>
                  <a:lnTo>
                    <a:pt x="4028480" y="522487"/>
                  </a:lnTo>
                  <a:lnTo>
                    <a:pt x="0" y="5224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4028480" cy="5415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37"/>
                </a:lnSpc>
              </a:pPr>
              <a:r>
                <a:rPr lang="en-US" sz="2375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Summary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416969" y="5977384"/>
            <a:ext cx="8167092" cy="443805"/>
            <a:chOff x="0" y="0"/>
            <a:chExt cx="10889456" cy="5917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889456" cy="591740"/>
            </a:xfrm>
            <a:custGeom>
              <a:avLst/>
              <a:gdLst/>
              <a:ahLst/>
              <a:cxnLst/>
              <a:rect l="l" t="t" r="r" b="b"/>
              <a:pathLst>
                <a:path w="10889456" h="591740">
                  <a:moveTo>
                    <a:pt x="0" y="0"/>
                  </a:moveTo>
                  <a:lnTo>
                    <a:pt x="10889456" y="0"/>
                  </a:lnTo>
                  <a:lnTo>
                    <a:pt x="10889456" y="591740"/>
                  </a:lnTo>
                  <a:lnTo>
                    <a:pt x="0" y="5917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10889456" cy="6679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Accurate CKD prediction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5939" y="6720482"/>
            <a:ext cx="1208485" cy="1450181"/>
            <a:chOff x="0" y="0"/>
            <a:chExt cx="1611313" cy="1933575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1611376" cy="1933575"/>
            </a:xfrm>
            <a:custGeom>
              <a:avLst/>
              <a:gdLst/>
              <a:ahLst/>
              <a:cxnLst/>
              <a:rect l="l" t="t" r="r" b="b"/>
              <a:pathLst>
                <a:path w="1611376" h="1933575">
                  <a:moveTo>
                    <a:pt x="0" y="0"/>
                  </a:moveTo>
                  <a:lnTo>
                    <a:pt x="1611376" y="0"/>
                  </a:lnTo>
                  <a:lnTo>
                    <a:pt x="1611376" y="1933575"/>
                  </a:lnTo>
                  <a:lnTo>
                    <a:pt x="0" y="1933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1" r="-12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416969" y="6947892"/>
            <a:ext cx="3021360" cy="391866"/>
            <a:chOff x="0" y="0"/>
            <a:chExt cx="4028480" cy="522487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028480" cy="522487"/>
            </a:xfrm>
            <a:custGeom>
              <a:avLst/>
              <a:gdLst/>
              <a:ahLst/>
              <a:cxnLst/>
              <a:rect l="l" t="t" r="r" b="b"/>
              <a:pathLst>
                <a:path w="4028480" h="522487">
                  <a:moveTo>
                    <a:pt x="0" y="0"/>
                  </a:moveTo>
                  <a:lnTo>
                    <a:pt x="4028480" y="0"/>
                  </a:lnTo>
                  <a:lnTo>
                    <a:pt x="4028480" y="522487"/>
                  </a:lnTo>
                  <a:lnTo>
                    <a:pt x="0" y="5224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4028480" cy="5415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37"/>
                </a:lnSpc>
              </a:pPr>
              <a:r>
                <a:rPr lang="en-US" sz="2375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Improvements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416969" y="7427565"/>
            <a:ext cx="8167092" cy="443805"/>
            <a:chOff x="0" y="0"/>
            <a:chExt cx="10889456" cy="5917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889456" cy="591740"/>
            </a:xfrm>
            <a:custGeom>
              <a:avLst/>
              <a:gdLst/>
              <a:ahLst/>
              <a:cxnLst/>
              <a:rect l="l" t="t" r="r" b="b"/>
              <a:pathLst>
                <a:path w="10889456" h="591740">
                  <a:moveTo>
                    <a:pt x="0" y="0"/>
                  </a:moveTo>
                  <a:lnTo>
                    <a:pt x="10889456" y="0"/>
                  </a:lnTo>
                  <a:lnTo>
                    <a:pt x="10889456" y="591740"/>
                  </a:lnTo>
                  <a:lnTo>
                    <a:pt x="0" y="5917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76200"/>
              <a:ext cx="10889456" cy="6679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Incorporate more data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5939" y="8170664"/>
            <a:ext cx="1208485" cy="1450181"/>
            <a:chOff x="0" y="0"/>
            <a:chExt cx="1611313" cy="1933575"/>
          </a:xfrm>
        </p:grpSpPr>
        <p:sp>
          <p:nvSpPr>
            <p:cNvPr id="39" name="Freeform 39" descr="preencoded.png"/>
            <p:cNvSpPr/>
            <p:nvPr/>
          </p:nvSpPr>
          <p:spPr>
            <a:xfrm>
              <a:off x="0" y="0"/>
              <a:ext cx="1611376" cy="1933575"/>
            </a:xfrm>
            <a:custGeom>
              <a:avLst/>
              <a:gdLst/>
              <a:ahLst/>
              <a:cxnLst/>
              <a:rect l="l" t="t" r="r" b="b"/>
              <a:pathLst>
                <a:path w="1611376" h="1933575">
                  <a:moveTo>
                    <a:pt x="0" y="0"/>
                  </a:moveTo>
                  <a:lnTo>
                    <a:pt x="1611376" y="0"/>
                  </a:lnTo>
                  <a:lnTo>
                    <a:pt x="1611376" y="1933575"/>
                  </a:lnTo>
                  <a:lnTo>
                    <a:pt x="0" y="1933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31" r="-12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416969" y="8398073"/>
            <a:ext cx="3021360" cy="391866"/>
            <a:chOff x="0" y="0"/>
            <a:chExt cx="4028480" cy="52248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028480" cy="522487"/>
            </a:xfrm>
            <a:custGeom>
              <a:avLst/>
              <a:gdLst/>
              <a:ahLst/>
              <a:cxnLst/>
              <a:rect l="l" t="t" r="r" b="b"/>
              <a:pathLst>
                <a:path w="4028480" h="522487">
                  <a:moveTo>
                    <a:pt x="0" y="0"/>
                  </a:moveTo>
                  <a:lnTo>
                    <a:pt x="4028480" y="0"/>
                  </a:lnTo>
                  <a:lnTo>
                    <a:pt x="4028480" y="522487"/>
                  </a:lnTo>
                  <a:lnTo>
                    <a:pt x="0" y="5224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4028480" cy="5415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37"/>
                </a:lnSpc>
              </a:pPr>
              <a:r>
                <a:rPr lang="en-US" sz="2375" b="1">
                  <a:solidFill>
                    <a:srgbClr val="333F7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Applications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416969" y="8877746"/>
            <a:ext cx="8167092" cy="443805"/>
            <a:chOff x="0" y="0"/>
            <a:chExt cx="10889456" cy="59174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889456" cy="591740"/>
            </a:xfrm>
            <a:custGeom>
              <a:avLst/>
              <a:gdLst/>
              <a:ahLst/>
              <a:cxnLst/>
              <a:rect l="l" t="t" r="r" b="b"/>
              <a:pathLst>
                <a:path w="10889456" h="591740">
                  <a:moveTo>
                    <a:pt x="0" y="0"/>
                  </a:moveTo>
                  <a:lnTo>
                    <a:pt x="10889456" y="0"/>
                  </a:lnTo>
                  <a:lnTo>
                    <a:pt x="10889456" y="591740"/>
                  </a:lnTo>
                  <a:lnTo>
                    <a:pt x="0" y="5917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76200"/>
              <a:ext cx="10889456" cy="6679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000"/>
                </a:lnSpc>
              </a:pPr>
              <a:r>
                <a:rPr lang="en-US" sz="1874">
                  <a:solidFill>
                    <a:srgbClr val="333F70"/>
                  </a:solidFill>
                  <a:latin typeface="Open Sans"/>
                  <a:ea typeface="Open Sans"/>
                  <a:cs typeface="Open Sans"/>
                  <a:sym typeface="Open Sans"/>
                </a:rPr>
                <a:t>Early screening, decision support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391</Words>
  <Application>Microsoft Office PowerPoint</Application>
  <PresentationFormat>Custom</PresentationFormat>
  <Paragraphs>75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Merriweather</vt:lpstr>
      <vt:lpstr>Arimo Bold</vt:lpstr>
      <vt:lpstr>Calibri (MS)</vt:lpstr>
      <vt:lpstr>Open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Prayansh Sukhija</cp:lastModifiedBy>
  <cp:revision>2</cp:revision>
  <dcterms:created xsi:type="dcterms:W3CDTF">2006-08-16T00:00:00Z</dcterms:created>
  <dcterms:modified xsi:type="dcterms:W3CDTF">2025-04-21T05:54:13Z</dcterms:modified>
  <dc:identifier>DAGlPHWTFz0</dc:identifier>
</cp:coreProperties>
</file>